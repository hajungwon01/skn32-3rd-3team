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" charset="1" panose="020F0502020204030204"/>
      <p:regular r:id="rId19"/>
    </p:embeddedFont>
    <p:embeddedFont>
      <p:font typeface="Arial Bold" charset="1" panose="020B0704020202020204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3A2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685800" cy="10287000"/>
            <a:chOff x="0" y="0"/>
            <a:chExt cx="9144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4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57400" y="2057400"/>
            <a:ext cx="2743200" cy="2057400"/>
            <a:chOff x="0" y="0"/>
            <a:chExt cx="3657600" cy="274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0"/>
              <a:ext cx="3657600" cy="293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🌿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57400" y="3840480"/>
            <a:ext cx="10972800" cy="1234440"/>
            <a:chOff x="0" y="0"/>
            <a:chExt cx="1463040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630400" cy="1674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EcoBot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57400" y="5074920"/>
            <a:ext cx="10972800" cy="822960"/>
            <a:chOff x="0" y="0"/>
            <a:chExt cx="146304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463040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97BC62"/>
                  </a:solidFill>
                  <a:latin typeface="Arial"/>
                  <a:ea typeface="Arial"/>
                  <a:cs typeface="Arial"/>
                  <a:sym typeface="Arial"/>
                </a:rPr>
                <a:t>UI 와이어프레임 &amp; 스토리보드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57400" y="6172200"/>
            <a:ext cx="10972800" cy="685800"/>
            <a:chOff x="0" y="0"/>
            <a:chExt cx="14630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4630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생활 속 환경 실천 안내 AI 챗봇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57400" y="7269480"/>
            <a:ext cx="10972800" cy="548640"/>
            <a:chOff x="0" y="0"/>
            <a:chExt cx="146304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전체 8개 화면 | 사용자 흐름 | 인터랙션 정의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057400" y="8915400"/>
            <a:ext cx="4114800" cy="548640"/>
            <a:chOff x="0" y="0"/>
            <a:chExt cx="54864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486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2026.08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48640" cy="10287000"/>
            <a:chOff x="0" y="0"/>
            <a:chExt cx="731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10972800" cy="822960"/>
            <a:chOff x="0" y="0"/>
            <a:chExt cx="146304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화면 구성 &amp; 사용자 흐름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23444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EcoBot 전체 화면 간 이동 경로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2992" y="2728912"/>
            <a:ext cx="2771775" cy="2223135"/>
            <a:chOff x="0" y="0"/>
            <a:chExt cx="3695700" cy="29641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95700" cy="2964180"/>
            </a:xfrm>
            <a:custGeom>
              <a:avLst/>
              <a:gdLst/>
              <a:ahLst/>
              <a:cxnLst/>
              <a:rect r="r" b="b" t="t" l="l"/>
              <a:pathLst>
                <a:path h="2964180" w="369570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510407" y="0"/>
                  </a:lnTo>
                  <a:cubicBezTo>
                    <a:pt x="3612769" y="0"/>
                    <a:pt x="3695700" y="82931"/>
                    <a:pt x="3695700" y="185293"/>
                  </a:cubicBezTo>
                  <a:lnTo>
                    <a:pt x="3695700" y="2778887"/>
                  </a:lnTo>
                  <a:cubicBezTo>
                    <a:pt x="3695700" y="2881249"/>
                    <a:pt x="3612769" y="2964180"/>
                    <a:pt x="3510407" y="2964180"/>
                  </a:cubicBezTo>
                  <a:lnTo>
                    <a:pt x="185293" y="2964180"/>
                  </a:lnTo>
                  <a:cubicBezTo>
                    <a:pt x="82931" y="2964180"/>
                    <a:pt x="0" y="2881249"/>
                    <a:pt x="0" y="277888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3017520"/>
            <a:ext cx="2743200" cy="480060"/>
            <a:chOff x="0" y="0"/>
            <a:chExt cx="365760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657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97280" y="3497580"/>
            <a:ext cx="2743200" cy="960120"/>
            <a:chOff x="0" y="0"/>
            <a:chExt cx="365760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657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랜딩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11992" y="2728912"/>
            <a:ext cx="2771775" cy="2223135"/>
            <a:chOff x="0" y="0"/>
            <a:chExt cx="3695700" cy="29641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95700" cy="2964180"/>
            </a:xfrm>
            <a:custGeom>
              <a:avLst/>
              <a:gdLst/>
              <a:ahLst/>
              <a:cxnLst/>
              <a:rect r="r" b="b" t="t" l="l"/>
              <a:pathLst>
                <a:path h="2964180" w="369570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510407" y="0"/>
                  </a:lnTo>
                  <a:cubicBezTo>
                    <a:pt x="3612769" y="0"/>
                    <a:pt x="3695700" y="82931"/>
                    <a:pt x="3695700" y="185293"/>
                  </a:cubicBezTo>
                  <a:lnTo>
                    <a:pt x="3695700" y="2778887"/>
                  </a:lnTo>
                  <a:cubicBezTo>
                    <a:pt x="3695700" y="2881249"/>
                    <a:pt x="3612769" y="2964180"/>
                    <a:pt x="3510407" y="2964180"/>
                  </a:cubicBezTo>
                  <a:lnTo>
                    <a:pt x="185293" y="2964180"/>
                  </a:lnTo>
                  <a:cubicBezTo>
                    <a:pt x="82931" y="2964180"/>
                    <a:pt x="0" y="2881249"/>
                    <a:pt x="0" y="277888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526280" y="3017520"/>
            <a:ext cx="2743200" cy="480060"/>
            <a:chOff x="0" y="0"/>
            <a:chExt cx="365760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657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26280" y="3497580"/>
            <a:ext cx="2743200" cy="960120"/>
            <a:chOff x="0" y="0"/>
            <a:chExt cx="365760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3657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로그인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940993" y="2728912"/>
            <a:ext cx="2771775" cy="2223135"/>
            <a:chOff x="0" y="0"/>
            <a:chExt cx="3695700" cy="29641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695700" cy="2964180"/>
            </a:xfrm>
            <a:custGeom>
              <a:avLst/>
              <a:gdLst/>
              <a:ahLst/>
              <a:cxnLst/>
              <a:rect r="r" b="b" t="t" l="l"/>
              <a:pathLst>
                <a:path h="2964180" w="369570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510407" y="0"/>
                  </a:lnTo>
                  <a:cubicBezTo>
                    <a:pt x="3612769" y="0"/>
                    <a:pt x="3695700" y="82931"/>
                    <a:pt x="3695700" y="185293"/>
                  </a:cubicBezTo>
                  <a:lnTo>
                    <a:pt x="3695700" y="2778887"/>
                  </a:lnTo>
                  <a:cubicBezTo>
                    <a:pt x="3695700" y="2881249"/>
                    <a:pt x="3612769" y="2964180"/>
                    <a:pt x="3510407" y="2964180"/>
                  </a:cubicBezTo>
                  <a:lnTo>
                    <a:pt x="185293" y="2964180"/>
                  </a:lnTo>
                  <a:cubicBezTo>
                    <a:pt x="82931" y="2964180"/>
                    <a:pt x="0" y="2881249"/>
                    <a:pt x="0" y="277888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955280" y="3017520"/>
            <a:ext cx="2743200" cy="480060"/>
            <a:chOff x="0" y="0"/>
            <a:chExt cx="36576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657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955280" y="3497580"/>
            <a:ext cx="2743200" cy="960120"/>
            <a:chOff x="0" y="0"/>
            <a:chExt cx="365760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3657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회원가입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360468" y="2719388"/>
            <a:ext cx="2790825" cy="2242185"/>
            <a:chOff x="0" y="0"/>
            <a:chExt cx="3721100" cy="29895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21100" cy="2989580"/>
            </a:xfrm>
            <a:custGeom>
              <a:avLst/>
              <a:gdLst/>
              <a:ahLst/>
              <a:cxnLst/>
              <a:rect r="r" b="b" t="t" l="l"/>
              <a:pathLst>
                <a:path h="2989580" w="3721100">
                  <a:moveTo>
                    <a:pt x="0" y="186817"/>
                  </a:moveTo>
                  <a:cubicBezTo>
                    <a:pt x="0" y="83693"/>
                    <a:pt x="83693" y="0"/>
                    <a:pt x="186817" y="0"/>
                  </a:cubicBezTo>
                  <a:lnTo>
                    <a:pt x="3534283" y="0"/>
                  </a:lnTo>
                  <a:cubicBezTo>
                    <a:pt x="3637407" y="0"/>
                    <a:pt x="3721100" y="83693"/>
                    <a:pt x="3721100" y="186817"/>
                  </a:cubicBezTo>
                  <a:lnTo>
                    <a:pt x="3721100" y="2802763"/>
                  </a:lnTo>
                  <a:cubicBezTo>
                    <a:pt x="3721100" y="2906014"/>
                    <a:pt x="3637407" y="2989580"/>
                    <a:pt x="3534283" y="2989580"/>
                  </a:cubicBezTo>
                  <a:lnTo>
                    <a:pt x="186817" y="2989580"/>
                  </a:lnTo>
                  <a:cubicBezTo>
                    <a:pt x="83693" y="2989580"/>
                    <a:pt x="0" y="2905887"/>
                    <a:pt x="0" y="2802763"/>
                  </a:cubicBezTo>
                  <a:close/>
                </a:path>
              </a:pathLst>
            </a:custGeom>
            <a:solidFill>
              <a:srgbClr val="E8F5EE"/>
            </a:solidFill>
            <a:ln w="47625" cap="sq">
              <a:solidFill>
                <a:srgbClr val="2D8B4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384280" y="3017520"/>
            <a:ext cx="2743200" cy="480060"/>
            <a:chOff x="0" y="0"/>
            <a:chExt cx="3657600" cy="640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3657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384280" y="3497580"/>
            <a:ext cx="2743200" cy="960120"/>
            <a:chOff x="0" y="0"/>
            <a:chExt cx="3657600" cy="1280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7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3657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채팅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82992" y="6157912"/>
            <a:ext cx="2771775" cy="2223135"/>
            <a:chOff x="0" y="0"/>
            <a:chExt cx="3695700" cy="29641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95700" cy="2964180"/>
            </a:xfrm>
            <a:custGeom>
              <a:avLst/>
              <a:gdLst/>
              <a:ahLst/>
              <a:cxnLst/>
              <a:rect r="r" b="b" t="t" l="l"/>
              <a:pathLst>
                <a:path h="2964180" w="369570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510407" y="0"/>
                  </a:lnTo>
                  <a:cubicBezTo>
                    <a:pt x="3612769" y="0"/>
                    <a:pt x="3695700" y="82931"/>
                    <a:pt x="3695700" y="185293"/>
                  </a:cubicBezTo>
                  <a:lnTo>
                    <a:pt x="3695700" y="2778887"/>
                  </a:lnTo>
                  <a:cubicBezTo>
                    <a:pt x="3695700" y="2881249"/>
                    <a:pt x="3612769" y="2964180"/>
                    <a:pt x="3510407" y="2964180"/>
                  </a:cubicBezTo>
                  <a:lnTo>
                    <a:pt x="185293" y="2964180"/>
                  </a:lnTo>
                  <a:cubicBezTo>
                    <a:pt x="82931" y="2964180"/>
                    <a:pt x="0" y="2881249"/>
                    <a:pt x="0" y="277888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97280" y="6446520"/>
            <a:ext cx="2743200" cy="480060"/>
            <a:chOff x="0" y="0"/>
            <a:chExt cx="365760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657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280" y="6926580"/>
            <a:ext cx="2743200" cy="960120"/>
            <a:chOff x="0" y="0"/>
            <a:chExt cx="365760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3657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가이드 안내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511992" y="6157912"/>
            <a:ext cx="2771775" cy="2223135"/>
            <a:chOff x="0" y="0"/>
            <a:chExt cx="3695700" cy="29641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95700" cy="2964180"/>
            </a:xfrm>
            <a:custGeom>
              <a:avLst/>
              <a:gdLst/>
              <a:ahLst/>
              <a:cxnLst/>
              <a:rect r="r" b="b" t="t" l="l"/>
              <a:pathLst>
                <a:path h="2964180" w="369570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510407" y="0"/>
                  </a:lnTo>
                  <a:cubicBezTo>
                    <a:pt x="3612769" y="0"/>
                    <a:pt x="3695700" y="82931"/>
                    <a:pt x="3695700" y="185293"/>
                  </a:cubicBezTo>
                  <a:lnTo>
                    <a:pt x="3695700" y="2778887"/>
                  </a:lnTo>
                  <a:cubicBezTo>
                    <a:pt x="3695700" y="2881249"/>
                    <a:pt x="3612769" y="2964180"/>
                    <a:pt x="3510407" y="2964180"/>
                  </a:cubicBezTo>
                  <a:lnTo>
                    <a:pt x="185293" y="2964180"/>
                  </a:lnTo>
                  <a:cubicBezTo>
                    <a:pt x="82931" y="2964180"/>
                    <a:pt x="0" y="2881249"/>
                    <a:pt x="0" y="277888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4526280" y="6446520"/>
            <a:ext cx="2743200" cy="480060"/>
            <a:chOff x="0" y="0"/>
            <a:chExt cx="3657600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657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EC-06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526280" y="6926580"/>
            <a:ext cx="2743200" cy="960120"/>
            <a:chOff x="0" y="0"/>
            <a:chExt cx="365760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3657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서비스 소개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369993" y="6157912"/>
            <a:ext cx="2771775" cy="2223135"/>
            <a:chOff x="0" y="0"/>
            <a:chExt cx="3695700" cy="29641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95700" cy="2964180"/>
            </a:xfrm>
            <a:custGeom>
              <a:avLst/>
              <a:gdLst/>
              <a:ahLst/>
              <a:cxnLst/>
              <a:rect r="r" b="b" t="t" l="l"/>
              <a:pathLst>
                <a:path h="2964180" w="369570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510407" y="0"/>
                  </a:lnTo>
                  <a:cubicBezTo>
                    <a:pt x="3612769" y="0"/>
                    <a:pt x="3695700" y="82931"/>
                    <a:pt x="3695700" y="185293"/>
                  </a:cubicBezTo>
                  <a:lnTo>
                    <a:pt x="3695700" y="2778887"/>
                  </a:lnTo>
                  <a:cubicBezTo>
                    <a:pt x="3695700" y="2881249"/>
                    <a:pt x="3612769" y="2964180"/>
                    <a:pt x="3510407" y="2964180"/>
                  </a:cubicBezTo>
                  <a:lnTo>
                    <a:pt x="185293" y="2964180"/>
                  </a:lnTo>
                  <a:cubicBezTo>
                    <a:pt x="82931" y="2964180"/>
                    <a:pt x="0" y="2881249"/>
                    <a:pt x="0" y="277888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1384280" y="6446520"/>
            <a:ext cx="2743200" cy="480060"/>
            <a:chOff x="0" y="0"/>
            <a:chExt cx="3657600" cy="640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657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EC-07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384280" y="6926580"/>
            <a:ext cx="2743200" cy="960120"/>
            <a:chOff x="0" y="0"/>
            <a:chExt cx="3657600" cy="12801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657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관리자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(통계)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798993" y="6157912"/>
            <a:ext cx="2771775" cy="2223135"/>
            <a:chOff x="0" y="0"/>
            <a:chExt cx="3695700" cy="29641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695700" cy="2964180"/>
            </a:xfrm>
            <a:custGeom>
              <a:avLst/>
              <a:gdLst/>
              <a:ahLst/>
              <a:cxnLst/>
              <a:rect r="r" b="b" t="t" l="l"/>
              <a:pathLst>
                <a:path h="2964180" w="369570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3510407" y="0"/>
                  </a:lnTo>
                  <a:cubicBezTo>
                    <a:pt x="3612769" y="0"/>
                    <a:pt x="3695700" y="82931"/>
                    <a:pt x="3695700" y="185293"/>
                  </a:cubicBezTo>
                  <a:lnTo>
                    <a:pt x="3695700" y="2778887"/>
                  </a:lnTo>
                  <a:cubicBezTo>
                    <a:pt x="3695700" y="2881249"/>
                    <a:pt x="3612769" y="2964180"/>
                    <a:pt x="3510407" y="2964180"/>
                  </a:cubicBezTo>
                  <a:lnTo>
                    <a:pt x="185293" y="2964180"/>
                  </a:lnTo>
                  <a:cubicBezTo>
                    <a:pt x="82931" y="2964180"/>
                    <a:pt x="0" y="2881249"/>
                    <a:pt x="0" y="277888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4813280" y="6446520"/>
            <a:ext cx="2743200" cy="480060"/>
            <a:chOff x="0" y="0"/>
            <a:chExt cx="3657600" cy="6400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57600" cy="640080"/>
            </a:xfrm>
            <a:custGeom>
              <a:avLst/>
              <a:gdLst/>
              <a:ahLst/>
              <a:cxnLst/>
              <a:rect r="r" b="b" t="t" l="l"/>
              <a:pathLst>
                <a:path h="6400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3657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EC-08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813280" y="6926580"/>
            <a:ext cx="2743200" cy="960120"/>
            <a:chOff x="0" y="0"/>
            <a:chExt cx="3657600" cy="12801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36576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관리자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(문서)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840480" y="3771900"/>
            <a:ext cx="685800" cy="54864"/>
            <a:chOff x="0" y="0"/>
            <a:chExt cx="914400" cy="731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14400" cy="73152"/>
            </a:xfrm>
            <a:custGeom>
              <a:avLst/>
              <a:gdLst/>
              <a:ahLst/>
              <a:cxnLst/>
              <a:rect r="r" b="b" t="t" l="l"/>
              <a:pathLst>
                <a:path h="7315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4361688" y="3621024"/>
            <a:ext cx="411480" cy="411480"/>
            <a:chOff x="0" y="0"/>
            <a:chExt cx="54864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5486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D8B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269480" y="3771900"/>
            <a:ext cx="685800" cy="54864"/>
            <a:chOff x="0" y="0"/>
            <a:chExt cx="914400" cy="731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" cy="73152"/>
            </a:xfrm>
            <a:custGeom>
              <a:avLst/>
              <a:gdLst/>
              <a:ahLst/>
              <a:cxnLst/>
              <a:rect r="r" b="b" t="t" l="l"/>
              <a:pathLst>
                <a:path h="7315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7818120" y="3621024"/>
            <a:ext cx="411480" cy="411480"/>
            <a:chOff x="0" y="0"/>
            <a:chExt cx="54864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5486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D8B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7269480" y="3497580"/>
            <a:ext cx="4114800" cy="54864"/>
            <a:chOff x="0" y="0"/>
            <a:chExt cx="5486400" cy="731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486400" cy="73152"/>
            </a:xfrm>
            <a:custGeom>
              <a:avLst/>
              <a:gdLst/>
              <a:ahLst/>
              <a:cxnLst/>
              <a:rect r="r" b="b" t="t" l="l"/>
              <a:pathLst>
                <a:path h="7315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265218" y="3326130"/>
            <a:ext cx="411480" cy="411480"/>
            <a:chOff x="0" y="0"/>
            <a:chExt cx="548640" cy="5486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486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D8B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2468880" y="4937760"/>
            <a:ext cx="54864" cy="1234440"/>
            <a:chOff x="0" y="0"/>
            <a:chExt cx="73152" cy="16459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3152" cy="1645920"/>
            </a:xfrm>
            <a:custGeom>
              <a:avLst/>
              <a:gdLst/>
              <a:ahLst/>
              <a:cxnLst/>
              <a:rect r="r" b="b" t="t" l="l"/>
              <a:pathLst>
                <a:path h="1645920" w="73152">
                  <a:moveTo>
                    <a:pt x="0" y="0"/>
                  </a:moveTo>
                  <a:lnTo>
                    <a:pt x="73152" y="0"/>
                  </a:lnTo>
                  <a:lnTo>
                    <a:pt x="73152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290572" y="6035040"/>
            <a:ext cx="411480" cy="411480"/>
            <a:chOff x="0" y="0"/>
            <a:chExt cx="548640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5486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D8B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-5400000">
            <a:off x="4567428" y="7173468"/>
            <a:ext cx="411480" cy="411480"/>
            <a:chOff x="0" y="0"/>
            <a:chExt cx="548640" cy="5486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486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D489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755880" y="4937760"/>
            <a:ext cx="54864" cy="1234440"/>
            <a:chOff x="0" y="0"/>
            <a:chExt cx="73152" cy="16459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3152" cy="1645920"/>
            </a:xfrm>
            <a:custGeom>
              <a:avLst/>
              <a:gdLst/>
              <a:ahLst/>
              <a:cxnLst/>
              <a:rect r="r" b="b" t="t" l="l"/>
              <a:pathLst>
                <a:path h="1645920" w="73152">
                  <a:moveTo>
                    <a:pt x="0" y="0"/>
                  </a:moveTo>
                  <a:lnTo>
                    <a:pt x="73152" y="0"/>
                  </a:lnTo>
                  <a:lnTo>
                    <a:pt x="73152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577572" y="6035040"/>
            <a:ext cx="411480" cy="411480"/>
            <a:chOff x="0" y="0"/>
            <a:chExt cx="548640" cy="5486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5486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D8B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▼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4127480" y="7200900"/>
            <a:ext cx="685800" cy="54864"/>
            <a:chOff x="0" y="0"/>
            <a:chExt cx="914400" cy="731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" cy="73152"/>
            </a:xfrm>
            <a:custGeom>
              <a:avLst/>
              <a:gdLst/>
              <a:ahLst/>
              <a:cxnLst/>
              <a:rect r="r" b="b" t="t" l="l"/>
              <a:pathLst>
                <a:path h="7315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4694218" y="7063740"/>
            <a:ext cx="411480" cy="411480"/>
            <a:chOff x="0" y="0"/>
            <a:chExt cx="54864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5486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D8B4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▶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392275" y="2459355"/>
            <a:ext cx="3173730" cy="2487930"/>
            <a:chOff x="0" y="0"/>
            <a:chExt cx="4231640" cy="33172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231640" cy="3317240"/>
            </a:xfrm>
            <a:custGeom>
              <a:avLst/>
              <a:gdLst/>
              <a:ahLst/>
              <a:cxnLst/>
              <a:rect r="r" b="b" t="t" l="l"/>
              <a:pathLst>
                <a:path h="3317240" w="423164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084193" y="0"/>
                  </a:lnTo>
                  <a:cubicBezTo>
                    <a:pt x="4165600" y="0"/>
                    <a:pt x="4231640" y="66040"/>
                    <a:pt x="4231640" y="147447"/>
                  </a:cubicBezTo>
                  <a:lnTo>
                    <a:pt x="4231640" y="3169793"/>
                  </a:lnTo>
                  <a:cubicBezTo>
                    <a:pt x="4231640" y="3251200"/>
                    <a:pt x="4165600" y="3317240"/>
                    <a:pt x="4084193" y="3317240"/>
                  </a:cubicBezTo>
                  <a:lnTo>
                    <a:pt x="147447" y="3317240"/>
                  </a:lnTo>
                  <a:cubicBezTo>
                    <a:pt x="66040" y="3317240"/>
                    <a:pt x="0" y="3251200"/>
                    <a:pt x="0" y="3169793"/>
                  </a:cubicBez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4401800" y="2537460"/>
            <a:ext cx="3154680" cy="411480"/>
            <a:chOff x="0" y="0"/>
            <a:chExt cx="4206240" cy="5486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19050"/>
              <a:ext cx="4206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33333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범례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4676120" y="3086100"/>
            <a:ext cx="548640" cy="54864"/>
            <a:chOff x="0" y="0"/>
            <a:chExt cx="731520" cy="731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731520" cy="73152"/>
            </a:xfrm>
            <a:custGeom>
              <a:avLst/>
              <a:gdLst/>
              <a:ahLst/>
              <a:cxnLst/>
              <a:rect r="r" b="b" t="t" l="l"/>
              <a:pathLst>
                <a:path h="7315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5361920" y="2948940"/>
            <a:ext cx="1645920" cy="342900"/>
            <a:chOff x="0" y="0"/>
            <a:chExt cx="2194560" cy="4572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94560" cy="457200"/>
            </a:xfrm>
            <a:custGeom>
              <a:avLst/>
              <a:gdLst/>
              <a:ahLst/>
              <a:cxnLst/>
              <a:rect r="r" b="b" t="t" l="l"/>
              <a:pathLst>
                <a:path h="4572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219456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주요 흐름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4676120" y="3497580"/>
            <a:ext cx="548640" cy="54864"/>
            <a:chOff x="0" y="0"/>
            <a:chExt cx="731520" cy="7315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31520" cy="73152"/>
            </a:xfrm>
            <a:custGeom>
              <a:avLst/>
              <a:gdLst/>
              <a:ahLst/>
              <a:cxnLst/>
              <a:rect r="r" b="b" t="t" l="l"/>
              <a:pathLst>
                <a:path h="73152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4890B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5361920" y="3360420"/>
            <a:ext cx="1645920" cy="342900"/>
            <a:chOff x="0" y="0"/>
            <a:chExt cx="2194560" cy="4572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194560" cy="457200"/>
            </a:xfrm>
            <a:custGeom>
              <a:avLst/>
              <a:gdLst/>
              <a:ahLst/>
              <a:cxnLst/>
              <a:rect r="r" b="b" t="t" l="l"/>
              <a:pathLst>
                <a:path h="4572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9050"/>
              <a:ext cx="219456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보조 흐름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4657070" y="3821430"/>
            <a:ext cx="586740" cy="449580"/>
            <a:chOff x="0" y="0"/>
            <a:chExt cx="782320" cy="59944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782320" cy="599440"/>
            </a:xfrm>
            <a:custGeom>
              <a:avLst/>
              <a:gdLst/>
              <a:ahLst/>
              <a:cxnLst/>
              <a:rect r="r" b="b" t="t" l="l"/>
              <a:pathLst>
                <a:path h="599440" w="782320">
                  <a:moveTo>
                    <a:pt x="0" y="99949"/>
                  </a:moveTo>
                  <a:cubicBezTo>
                    <a:pt x="0" y="44704"/>
                    <a:pt x="44704" y="0"/>
                    <a:pt x="99949" y="0"/>
                  </a:cubicBezTo>
                  <a:lnTo>
                    <a:pt x="682371" y="0"/>
                  </a:lnTo>
                  <a:cubicBezTo>
                    <a:pt x="737489" y="0"/>
                    <a:pt x="782320" y="44704"/>
                    <a:pt x="782320" y="99949"/>
                  </a:cubicBezTo>
                  <a:lnTo>
                    <a:pt x="782320" y="499491"/>
                  </a:lnTo>
                  <a:cubicBezTo>
                    <a:pt x="782320" y="554609"/>
                    <a:pt x="737616" y="599440"/>
                    <a:pt x="682371" y="599440"/>
                  </a:cubicBezTo>
                  <a:lnTo>
                    <a:pt x="99949" y="599440"/>
                  </a:lnTo>
                  <a:cubicBezTo>
                    <a:pt x="44704" y="599440"/>
                    <a:pt x="0" y="554736"/>
                    <a:pt x="0" y="499491"/>
                  </a:cubicBezTo>
                  <a:close/>
                </a:path>
              </a:pathLst>
            </a:custGeom>
            <a:solidFill>
              <a:srgbClr val="E8F5EE"/>
            </a:solidFill>
            <a:ln w="38100" cap="sq">
              <a:solidFill>
                <a:srgbClr val="2D8B4E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15361920" y="3771900"/>
            <a:ext cx="1645920" cy="480060"/>
            <a:chOff x="0" y="0"/>
            <a:chExt cx="2194560" cy="64008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194560" cy="640080"/>
            </a:xfrm>
            <a:custGeom>
              <a:avLst/>
              <a:gdLst/>
              <a:ahLst/>
              <a:cxnLst/>
              <a:rect r="r" b="b" t="t" l="l"/>
              <a:pathLst>
                <a:path h="64008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9050"/>
              <a:ext cx="21945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핵심 화면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4077052" y="3799332"/>
            <a:ext cx="62351" cy="3585210"/>
            <a:chOff x="0" y="0"/>
            <a:chExt cx="73152" cy="42062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3152" cy="4206240"/>
            </a:xfrm>
            <a:custGeom>
              <a:avLst/>
              <a:gdLst/>
              <a:ahLst/>
              <a:cxnLst/>
              <a:rect r="r" b="b" t="t" l="l"/>
              <a:pathLst>
                <a:path h="4206240" w="73152">
                  <a:moveTo>
                    <a:pt x="0" y="0"/>
                  </a:moveTo>
                  <a:lnTo>
                    <a:pt x="73152" y="0"/>
                  </a:lnTo>
                  <a:lnTo>
                    <a:pt x="73152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D4890B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108228" y="7351776"/>
            <a:ext cx="685800" cy="54864"/>
            <a:chOff x="0" y="0"/>
            <a:chExt cx="914400" cy="7315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14400" cy="73152"/>
            </a:xfrm>
            <a:custGeom>
              <a:avLst/>
              <a:gdLst/>
              <a:ahLst/>
              <a:cxnLst/>
              <a:rect r="r" b="b" t="t" l="l"/>
              <a:pathLst>
                <a:path h="73152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D4890B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48640" cy="10287000"/>
            <a:chOff x="0" y="0"/>
            <a:chExt cx="731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10972800" cy="822960"/>
            <a:chOff x="0" y="0"/>
            <a:chExt cx="146304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EC-01  랜딩 페이지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23444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서비스 첫 진입 화면 — 주요 기능 소개 및 지역 선택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185035"/>
            <a:ext cx="10306050" cy="7562850"/>
            <a:chOff x="0" y="0"/>
            <a:chExt cx="13741400" cy="10083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10083800"/>
                  </a:lnTo>
                  <a:lnTo>
                    <a:pt x="0" y="100838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0152" y="2386012"/>
            <a:ext cx="9766935" cy="645795"/>
            <a:chOff x="0" y="0"/>
            <a:chExt cx="13022580" cy="8610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22580" cy="861060"/>
            </a:xfrm>
            <a:custGeom>
              <a:avLst/>
              <a:gdLst/>
              <a:ahLst/>
              <a:cxnLst/>
              <a:rect r="r" b="b" t="t" l="l"/>
              <a:pathLst>
                <a:path h="861060" w="13022580">
                  <a:moveTo>
                    <a:pt x="0" y="0"/>
                  </a:moveTo>
                  <a:lnTo>
                    <a:pt x="13022580" y="0"/>
                  </a:lnTo>
                  <a:lnTo>
                    <a:pt x="13022580" y="861060"/>
                  </a:lnTo>
                  <a:lnTo>
                    <a:pt x="0" y="86106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2400300"/>
            <a:ext cx="9738360" cy="617220"/>
            <a:chOff x="0" y="0"/>
            <a:chExt cx="1298448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84480" cy="822960"/>
            </a:xfrm>
            <a:custGeom>
              <a:avLst/>
              <a:gdLst/>
              <a:ahLst/>
              <a:cxnLst/>
              <a:rect r="r" b="b" t="t" l="l"/>
              <a:pathLst>
                <a:path h="82296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430" r="0" b="-2574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2984480" cy="842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                                                   🌿 Ecobot                                                                 [시작하기]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43112" y="3277553"/>
            <a:ext cx="8121015" cy="2223135"/>
            <a:chOff x="0" y="0"/>
            <a:chExt cx="10828020" cy="29641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828020" cy="2964180"/>
            </a:xfrm>
            <a:custGeom>
              <a:avLst/>
              <a:gdLst/>
              <a:ahLst/>
              <a:cxnLst/>
              <a:rect r="r" b="b" t="t" l="l"/>
              <a:pathLst>
                <a:path h="2964180" w="10828020">
                  <a:moveTo>
                    <a:pt x="0" y="0"/>
                  </a:moveTo>
                  <a:lnTo>
                    <a:pt x="10828020" y="0"/>
                  </a:lnTo>
                  <a:lnTo>
                    <a:pt x="10828020" y="2964180"/>
                  </a:lnTo>
                  <a:lnTo>
                    <a:pt x="0" y="2964180"/>
                  </a:lnTo>
                  <a:close/>
                </a:path>
              </a:pathLst>
            </a:custGeom>
            <a:solidFill>
              <a:srgbClr val="E8F5EE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017520" y="3566160"/>
            <a:ext cx="6172200" cy="1097280"/>
            <a:chOff x="0" y="0"/>
            <a:chExt cx="822960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29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8229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우리 동네 환경 실천,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AI가 알려드려요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306128" y="4663440"/>
            <a:ext cx="5486400" cy="480060"/>
            <a:chOff x="0" y="0"/>
            <a:chExt cx="73152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73152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D8B4E"/>
                  </a:solidFill>
                  <a:latin typeface="Arial"/>
                  <a:ea typeface="Arial"/>
                  <a:cs typeface="Arial"/>
                  <a:sym typeface="Arial"/>
                </a:rPr>
                <a:t>[시작하기]    [서비스 안내]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57312" y="5746432"/>
            <a:ext cx="2908935" cy="1263015"/>
            <a:chOff x="0" y="0"/>
            <a:chExt cx="38785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785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3878580">
                  <a:moveTo>
                    <a:pt x="0" y="0"/>
                  </a:moveTo>
                  <a:lnTo>
                    <a:pt x="3878580" y="0"/>
                  </a:lnTo>
                  <a:lnTo>
                    <a:pt x="3878580" y="1684020"/>
                  </a:lnTo>
                  <a:lnTo>
                    <a:pt x="0" y="16840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71600" y="5760720"/>
            <a:ext cx="2880360" cy="1234440"/>
            <a:chOff x="0" y="0"/>
            <a:chExt cx="3840480" cy="1645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40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840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♻️ 분리배출 안내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품목별 방법 안내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649153" y="5746432"/>
            <a:ext cx="2908935" cy="1263015"/>
            <a:chOff x="0" y="0"/>
            <a:chExt cx="3878580" cy="16840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785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3878580">
                  <a:moveTo>
                    <a:pt x="0" y="0"/>
                  </a:moveTo>
                  <a:lnTo>
                    <a:pt x="3878580" y="0"/>
                  </a:lnTo>
                  <a:lnTo>
                    <a:pt x="3878580" y="1684020"/>
                  </a:lnTo>
                  <a:lnTo>
                    <a:pt x="0" y="16840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663440" y="5760720"/>
            <a:ext cx="2880360" cy="1234440"/>
            <a:chOff x="0" y="0"/>
            <a:chExt cx="384048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40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840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🍽 음식물쓰레기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배출 기준/감량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940993" y="5746432"/>
            <a:ext cx="2908935" cy="1263015"/>
            <a:chOff x="0" y="0"/>
            <a:chExt cx="3878580" cy="16840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785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3878580">
                  <a:moveTo>
                    <a:pt x="0" y="0"/>
                  </a:moveTo>
                  <a:lnTo>
                    <a:pt x="3878580" y="0"/>
                  </a:lnTo>
                  <a:lnTo>
                    <a:pt x="3878580" y="1684020"/>
                  </a:lnTo>
                  <a:lnTo>
                    <a:pt x="0" y="16840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955280" y="5760720"/>
            <a:ext cx="2880360" cy="1234440"/>
            <a:chOff x="0" y="0"/>
            <a:chExt cx="3840480" cy="1645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40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84048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⚡ 에너지 절약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절약법/지원 제도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57312" y="7255193"/>
            <a:ext cx="4692015" cy="1674495"/>
            <a:chOff x="0" y="0"/>
            <a:chExt cx="6256020" cy="22326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56020" cy="2232660"/>
            </a:xfrm>
            <a:custGeom>
              <a:avLst/>
              <a:gdLst/>
              <a:ahLst/>
              <a:cxnLst/>
              <a:rect r="r" b="b" t="t" l="l"/>
              <a:pathLst>
                <a:path h="2232660" w="6256020">
                  <a:moveTo>
                    <a:pt x="0" y="0"/>
                  </a:moveTo>
                  <a:lnTo>
                    <a:pt x="6256020" y="0"/>
                  </a:lnTo>
                  <a:lnTo>
                    <a:pt x="6256020" y="2232660"/>
                  </a:lnTo>
                  <a:lnTo>
                    <a:pt x="0" y="223266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71600" y="7269480"/>
            <a:ext cx="4663440" cy="1645920"/>
            <a:chOff x="0" y="0"/>
            <a:chExt cx="6217920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1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21792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📍 지원 지역</a:t>
              </a: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서울 | 천안 | 부산 남구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인천 미추홀 | 세종 | 제주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295072" y="7255193"/>
            <a:ext cx="4692015" cy="1674495"/>
            <a:chOff x="0" y="0"/>
            <a:chExt cx="6256020" cy="22326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56020" cy="2232660"/>
            </a:xfrm>
            <a:custGeom>
              <a:avLst/>
              <a:gdLst/>
              <a:ahLst/>
              <a:cxnLst/>
              <a:rect r="r" b="b" t="t" l="l"/>
              <a:pathLst>
                <a:path h="2232660" w="6256020">
                  <a:moveTo>
                    <a:pt x="0" y="0"/>
                  </a:moveTo>
                  <a:lnTo>
                    <a:pt x="6256020" y="0"/>
                  </a:lnTo>
                  <a:lnTo>
                    <a:pt x="6256020" y="2232660"/>
                  </a:lnTo>
                  <a:lnTo>
                    <a:pt x="0" y="223266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309360" y="7269480"/>
            <a:ext cx="4663440" cy="1645920"/>
            <a:chOff x="0" y="0"/>
            <a:chExt cx="6217920" cy="21945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1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621792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🛡 서비스 안내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24시간 운영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환경부 공식 데이터</a:t>
              </a:r>
            </a:p>
            <a:p>
              <a:pPr algn="l">
                <a:lnSpc>
                  <a:spcPts val="1620"/>
                </a:lnSpc>
              </a:pPr>
            </a:p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지역 맞춤 안내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060555" y="2185035"/>
            <a:ext cx="5505450" cy="7562850"/>
            <a:chOff x="0" y="0"/>
            <a:chExt cx="7340600" cy="10083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406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734060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157085" y="0"/>
                  </a:lnTo>
                  <a:cubicBezTo>
                    <a:pt x="7258431" y="0"/>
                    <a:pt x="7340600" y="82169"/>
                    <a:pt x="7340600" y="183515"/>
                  </a:cubicBezTo>
                  <a:lnTo>
                    <a:pt x="7340600" y="9900285"/>
                  </a:lnTo>
                  <a:cubicBezTo>
                    <a:pt x="7340600" y="10001631"/>
                    <a:pt x="7258431" y="10083800"/>
                    <a:pt x="7157085" y="10083800"/>
                  </a:cubicBezTo>
                  <a:lnTo>
                    <a:pt x="183515" y="10083800"/>
                  </a:lnTo>
                  <a:cubicBezTo>
                    <a:pt x="82169" y="10083800"/>
                    <a:pt x="0" y="10001631"/>
                    <a:pt x="0" y="9900285"/>
                  </a:cubicBez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070080" y="2331720"/>
            <a:ext cx="5486400" cy="548640"/>
            <a:chOff x="0" y="0"/>
            <a:chExt cx="73152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인터랙션 정의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344400" y="3154680"/>
            <a:ext cx="4800600" cy="411480"/>
            <a:chOff x="0" y="0"/>
            <a:chExt cx="64008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[시작하기]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344400" y="3566160"/>
            <a:ext cx="4800600" cy="891540"/>
            <a:chOff x="0" y="0"/>
            <a:chExt cx="6400800" cy="11887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로그인 여부 확인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→ 미로그인: EC-02 로그인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→ 로그인됨: EC-04 채팅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344400" y="4732020"/>
            <a:ext cx="4800600" cy="411480"/>
            <a:chOff x="0" y="0"/>
            <a:chExt cx="6400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[서비스 안내]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344400" y="5143500"/>
            <a:ext cx="4800600" cy="891540"/>
            <a:chOff x="0" y="0"/>
            <a:chExt cx="6400800" cy="11887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EC-06 서비스 소개로 이동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344400" y="6309360"/>
            <a:ext cx="4800600" cy="411480"/>
            <a:chOff x="0" y="0"/>
            <a:chExt cx="64008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기능 카드 클릭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344400" y="6720840"/>
            <a:ext cx="4800600" cy="891540"/>
            <a:chOff x="0" y="0"/>
            <a:chExt cx="6400800" cy="11887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EC-05 가이드 안내 페이지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해당 카테고리로 이동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344400" y="7886700"/>
            <a:ext cx="4800600" cy="411480"/>
            <a:chOff x="0" y="0"/>
            <a:chExt cx="64008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지역 바로가기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344400" y="8298180"/>
            <a:ext cx="4800600" cy="891540"/>
            <a:chOff x="0" y="0"/>
            <a:chExt cx="6400800" cy="11887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EC-05 가이드 안내 페이지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해당 지역으로 이동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48640" cy="10287000"/>
            <a:chOff x="0" y="0"/>
            <a:chExt cx="731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10972800" cy="822960"/>
            <a:chOff x="0" y="0"/>
            <a:chExt cx="146304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EC-02  로그인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23444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이메일/비밀번호 인증 — JWT 토큰 발급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185035"/>
            <a:ext cx="10306050" cy="7562850"/>
            <a:chOff x="0" y="0"/>
            <a:chExt cx="13741400" cy="10083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10083800"/>
                  </a:lnTo>
                  <a:lnTo>
                    <a:pt x="0" y="100838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689033" y="2866072"/>
            <a:ext cx="4829175" cy="5789295"/>
            <a:chOff x="0" y="0"/>
            <a:chExt cx="6438900" cy="77190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38900" cy="7719060"/>
            </a:xfrm>
            <a:custGeom>
              <a:avLst/>
              <a:gdLst/>
              <a:ahLst/>
              <a:cxnLst/>
              <a:rect r="r" b="b" t="t" l="l"/>
              <a:pathLst>
                <a:path h="7719060" w="6438900">
                  <a:moveTo>
                    <a:pt x="0" y="0"/>
                  </a:moveTo>
                  <a:lnTo>
                    <a:pt x="6438900" y="0"/>
                  </a:lnTo>
                  <a:lnTo>
                    <a:pt x="6438900" y="7719060"/>
                  </a:lnTo>
                  <a:lnTo>
                    <a:pt x="0" y="771906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703320" y="3086100"/>
            <a:ext cx="4800600" cy="685800"/>
            <a:chOff x="0" y="0"/>
            <a:chExt cx="64008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640080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🌿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03320" y="3634740"/>
            <a:ext cx="4800600" cy="480060"/>
            <a:chOff x="0" y="0"/>
            <a:chExt cx="640080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400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Ecobot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703320" y="4046220"/>
            <a:ext cx="4800600" cy="342900"/>
            <a:chOff x="0" y="0"/>
            <a:chExt cx="6400800" cy="457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00800" cy="457200"/>
            </a:xfrm>
            <a:custGeom>
              <a:avLst/>
              <a:gdLst/>
              <a:ahLst/>
              <a:cxnLst/>
              <a:rect r="r" b="b" t="t" l="l"/>
              <a:pathLst>
                <a:path h="4572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4008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생활 속 환경 실천 안내 챗봇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100512" y="4649153"/>
            <a:ext cx="4006215" cy="508635"/>
            <a:chOff x="0" y="0"/>
            <a:chExt cx="5341620" cy="6781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41620" cy="678180"/>
            </a:xfrm>
            <a:custGeom>
              <a:avLst/>
              <a:gdLst/>
              <a:ahLst/>
              <a:cxnLst/>
              <a:rect r="r" b="b" t="t" l="l"/>
              <a:pathLst>
                <a:path h="67818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678180"/>
                  </a:lnTo>
                  <a:lnTo>
                    <a:pt x="0" y="67818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114800" y="4663440"/>
            <a:ext cx="3977640" cy="480060"/>
            <a:chOff x="0" y="0"/>
            <a:chExt cx="530352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303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이메일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100512" y="5334953"/>
            <a:ext cx="4006215" cy="508635"/>
            <a:chOff x="0" y="0"/>
            <a:chExt cx="5341620" cy="6781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41620" cy="678180"/>
            </a:xfrm>
            <a:custGeom>
              <a:avLst/>
              <a:gdLst/>
              <a:ahLst/>
              <a:cxnLst/>
              <a:rect r="r" b="b" t="t" l="l"/>
              <a:pathLst>
                <a:path h="67818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678180"/>
                  </a:lnTo>
                  <a:lnTo>
                    <a:pt x="0" y="67818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114800" y="5349240"/>
            <a:ext cx="3977640" cy="480060"/>
            <a:chOff x="0" y="0"/>
            <a:chExt cx="530352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303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비밀번호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114800" y="6103620"/>
            <a:ext cx="3977640" cy="548640"/>
            <a:chOff x="0" y="0"/>
            <a:chExt cx="53035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212080" y="0"/>
                  </a:lnTo>
                  <a:cubicBezTo>
                    <a:pt x="5262626" y="0"/>
                    <a:pt x="5303520" y="40894"/>
                    <a:pt x="5303520" y="91440"/>
                  </a:cubicBezTo>
                  <a:lnTo>
                    <a:pt x="5303520" y="640080"/>
                  </a:lnTo>
                  <a:cubicBezTo>
                    <a:pt x="5303520" y="690626"/>
                    <a:pt x="5262626" y="731520"/>
                    <a:pt x="5212080" y="731520"/>
                  </a:cubicBezTo>
                  <a:lnTo>
                    <a:pt x="91440" y="731520"/>
                  </a:lnTo>
                  <a:cubicBezTo>
                    <a:pt x="40894" y="731520"/>
                    <a:pt x="0" y="690626"/>
                    <a:pt x="0" y="640080"/>
                  </a:cubicBez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114800" y="6103620"/>
            <a:ext cx="3977640" cy="548640"/>
            <a:chOff x="0" y="0"/>
            <a:chExt cx="53035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303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로그인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114800" y="6858000"/>
            <a:ext cx="3977640" cy="342900"/>
            <a:chOff x="0" y="0"/>
            <a:chExt cx="5303520" cy="457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03520" cy="457200"/>
            </a:xfrm>
            <a:custGeom>
              <a:avLst/>
              <a:gdLst/>
              <a:ahLst/>
              <a:cxnLst/>
              <a:rect r="r" b="b" t="t" l="l"/>
              <a:pathLst>
                <a:path h="4572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3035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── 또는 ──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100512" y="7323772"/>
            <a:ext cx="4006215" cy="508635"/>
            <a:chOff x="0" y="0"/>
            <a:chExt cx="5341620" cy="6781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41620" cy="678180"/>
            </a:xfrm>
            <a:custGeom>
              <a:avLst/>
              <a:gdLst/>
              <a:ahLst/>
              <a:cxnLst/>
              <a:rect r="r" b="b" t="t" l="l"/>
              <a:pathLst>
                <a:path h="67818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678180"/>
                  </a:lnTo>
                  <a:lnTo>
                    <a:pt x="0" y="67818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D8B4E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4114800" y="7338060"/>
            <a:ext cx="3977640" cy="480060"/>
            <a:chOff x="0" y="0"/>
            <a:chExt cx="530352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5303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2D8B4E"/>
                  </a:solidFill>
                  <a:latin typeface="Arial"/>
                  <a:ea typeface="Arial"/>
                  <a:cs typeface="Arial"/>
                  <a:sym typeface="Arial"/>
                </a:rPr>
                <a:t>회원가입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114800" y="7955280"/>
            <a:ext cx="3977640" cy="342900"/>
            <a:chOff x="0" y="0"/>
            <a:chExt cx="5303520" cy="457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03520" cy="457200"/>
            </a:xfrm>
            <a:custGeom>
              <a:avLst/>
              <a:gdLst/>
              <a:ahLst/>
              <a:cxnLst/>
              <a:rect r="r" b="b" t="t" l="l"/>
              <a:pathLst>
                <a:path h="4572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53035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B7DD8"/>
                  </a:solidFill>
                  <a:latin typeface="Arial"/>
                  <a:ea typeface="Arial"/>
                  <a:cs typeface="Arial"/>
                  <a:sym typeface="Arial"/>
                </a:rPr>
                <a:t>← 홈으로 돌아가기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060555" y="2185035"/>
            <a:ext cx="5505450" cy="7562850"/>
            <a:chOff x="0" y="0"/>
            <a:chExt cx="7340600" cy="10083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406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734060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157085" y="0"/>
                  </a:lnTo>
                  <a:cubicBezTo>
                    <a:pt x="7258431" y="0"/>
                    <a:pt x="7340600" y="82169"/>
                    <a:pt x="7340600" y="183515"/>
                  </a:cubicBezTo>
                  <a:lnTo>
                    <a:pt x="7340600" y="9900285"/>
                  </a:lnTo>
                  <a:cubicBezTo>
                    <a:pt x="7340600" y="10001631"/>
                    <a:pt x="7258431" y="10083800"/>
                    <a:pt x="7157085" y="10083800"/>
                  </a:cubicBezTo>
                  <a:lnTo>
                    <a:pt x="183515" y="10083800"/>
                  </a:lnTo>
                  <a:cubicBezTo>
                    <a:pt x="82169" y="10083800"/>
                    <a:pt x="0" y="10001631"/>
                    <a:pt x="0" y="9900285"/>
                  </a:cubicBez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070080" y="2331720"/>
            <a:ext cx="5486400" cy="548640"/>
            <a:chOff x="0" y="0"/>
            <a:chExt cx="7315200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인터랙션 정의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344400" y="3154680"/>
            <a:ext cx="4800600" cy="411480"/>
            <a:chOff x="0" y="0"/>
            <a:chExt cx="640080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[로그인] 클릭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44400" y="3566160"/>
            <a:ext cx="4800600" cy="822960"/>
            <a:chOff x="0" y="0"/>
            <a:chExt cx="640080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400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6400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POST /api/login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→ 성공: JWT 저장, EC-04 채팅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→ 실패: 에러 메시지 표시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344400" y="4663440"/>
            <a:ext cx="4800600" cy="411480"/>
            <a:chOff x="0" y="0"/>
            <a:chExt cx="64008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[회원가입] 클릭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344400" y="5074920"/>
            <a:ext cx="4800600" cy="822960"/>
            <a:chOff x="0" y="0"/>
            <a:chExt cx="6400800" cy="10972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400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6400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EC-03 회원가입 화면으로 이동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344400" y="6172200"/>
            <a:ext cx="4800600" cy="411480"/>
            <a:chOff x="0" y="0"/>
            <a:chExt cx="6400800" cy="548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[홈으로] 클릭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344400" y="6583680"/>
            <a:ext cx="4800600" cy="822960"/>
            <a:chOff x="0" y="0"/>
            <a:chExt cx="640080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00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6400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EC-01 랜딩 페이지로 이동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344400" y="7680960"/>
            <a:ext cx="4800600" cy="411480"/>
            <a:chOff x="0" y="0"/>
            <a:chExt cx="6400800" cy="5486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인증 상태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344400" y="8092440"/>
            <a:ext cx="4800600" cy="822960"/>
            <a:chOff x="0" y="0"/>
            <a:chExt cx="640080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400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6400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JWT 토큰을 localStorage에 저장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이후 모든 API 요청에 포함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48640" cy="10287000"/>
            <a:chOff x="0" y="0"/>
            <a:chExt cx="731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10972800" cy="822960"/>
            <a:chOff x="0" y="0"/>
            <a:chExt cx="146304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EC-03  회원가입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23444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신규 사용자 등록 — 이름, 이메일, 비밀번호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185035"/>
            <a:ext cx="10306050" cy="7562850"/>
            <a:chOff x="0" y="0"/>
            <a:chExt cx="13741400" cy="10083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10083800"/>
                  </a:lnTo>
                  <a:lnTo>
                    <a:pt x="0" y="100838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689033" y="2591752"/>
            <a:ext cx="4829175" cy="6612255"/>
            <a:chOff x="0" y="0"/>
            <a:chExt cx="6438900" cy="88163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38900" cy="8816340"/>
            </a:xfrm>
            <a:custGeom>
              <a:avLst/>
              <a:gdLst/>
              <a:ahLst/>
              <a:cxnLst/>
              <a:rect r="r" b="b" t="t" l="l"/>
              <a:pathLst>
                <a:path h="8816340" w="6438900">
                  <a:moveTo>
                    <a:pt x="0" y="0"/>
                  </a:moveTo>
                  <a:lnTo>
                    <a:pt x="6438900" y="0"/>
                  </a:lnTo>
                  <a:lnTo>
                    <a:pt x="6438900" y="8816340"/>
                  </a:lnTo>
                  <a:lnTo>
                    <a:pt x="0" y="88163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703320" y="2743200"/>
            <a:ext cx="4800600" cy="617220"/>
            <a:chOff x="0" y="0"/>
            <a:chExt cx="6400800" cy="8229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0800" cy="822960"/>
            </a:xfrm>
            <a:custGeom>
              <a:avLst/>
              <a:gdLst/>
              <a:ahLst/>
              <a:cxnLst/>
              <a:rect r="r" b="b" t="t" l="l"/>
              <a:pathLst>
                <a:path h="8229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400800" cy="889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🌿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703320" y="3291840"/>
            <a:ext cx="4800600" cy="411480"/>
            <a:chOff x="0" y="0"/>
            <a:chExt cx="64008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4008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회원가입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00512" y="3963353"/>
            <a:ext cx="4006215" cy="508635"/>
            <a:chOff x="0" y="0"/>
            <a:chExt cx="5341620" cy="6781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41620" cy="678180"/>
            </a:xfrm>
            <a:custGeom>
              <a:avLst/>
              <a:gdLst/>
              <a:ahLst/>
              <a:cxnLst/>
              <a:rect r="r" b="b" t="t" l="l"/>
              <a:pathLst>
                <a:path h="67818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678180"/>
                  </a:lnTo>
                  <a:lnTo>
                    <a:pt x="0" y="67818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114800" y="3977640"/>
            <a:ext cx="3977640" cy="480060"/>
            <a:chOff x="0" y="0"/>
            <a:chExt cx="530352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303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이름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100512" y="4649153"/>
            <a:ext cx="4006215" cy="508635"/>
            <a:chOff x="0" y="0"/>
            <a:chExt cx="5341620" cy="6781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41620" cy="678180"/>
            </a:xfrm>
            <a:custGeom>
              <a:avLst/>
              <a:gdLst/>
              <a:ahLst/>
              <a:cxnLst/>
              <a:rect r="r" b="b" t="t" l="l"/>
              <a:pathLst>
                <a:path h="67818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678180"/>
                  </a:lnTo>
                  <a:lnTo>
                    <a:pt x="0" y="67818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4114800" y="4663440"/>
            <a:ext cx="3977640" cy="480060"/>
            <a:chOff x="0" y="0"/>
            <a:chExt cx="5303520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303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이메일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00512" y="5334953"/>
            <a:ext cx="4006215" cy="508635"/>
            <a:chOff x="0" y="0"/>
            <a:chExt cx="5341620" cy="6781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41620" cy="678180"/>
            </a:xfrm>
            <a:custGeom>
              <a:avLst/>
              <a:gdLst/>
              <a:ahLst/>
              <a:cxnLst/>
              <a:rect r="r" b="b" t="t" l="l"/>
              <a:pathLst>
                <a:path h="67818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678180"/>
                  </a:lnTo>
                  <a:lnTo>
                    <a:pt x="0" y="67818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114800" y="5349240"/>
            <a:ext cx="3977640" cy="480060"/>
            <a:chOff x="0" y="0"/>
            <a:chExt cx="530352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303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비밀번호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100512" y="6020753"/>
            <a:ext cx="4006215" cy="508635"/>
            <a:chOff x="0" y="0"/>
            <a:chExt cx="5341620" cy="6781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41620" cy="678180"/>
            </a:xfrm>
            <a:custGeom>
              <a:avLst/>
              <a:gdLst/>
              <a:ahLst/>
              <a:cxnLst/>
              <a:rect r="r" b="b" t="t" l="l"/>
              <a:pathLst>
                <a:path h="678180" w="5341620">
                  <a:moveTo>
                    <a:pt x="0" y="0"/>
                  </a:moveTo>
                  <a:lnTo>
                    <a:pt x="5341620" y="0"/>
                  </a:lnTo>
                  <a:lnTo>
                    <a:pt x="5341620" y="678180"/>
                  </a:lnTo>
                  <a:lnTo>
                    <a:pt x="0" y="67818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4114800" y="6035040"/>
            <a:ext cx="3977640" cy="480060"/>
            <a:chOff x="0" y="0"/>
            <a:chExt cx="530352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03520" cy="640080"/>
            </a:xfrm>
            <a:custGeom>
              <a:avLst/>
              <a:gdLst/>
              <a:ahLst/>
              <a:cxnLst/>
              <a:rect r="r" b="b" t="t" l="l"/>
              <a:pathLst>
                <a:path h="64008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447" r="0" b="-1114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303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비밀번호 확인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114800" y="6995160"/>
            <a:ext cx="3977640" cy="548640"/>
            <a:chOff x="0" y="0"/>
            <a:chExt cx="53035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91440"/>
                  </a:moveTo>
                  <a:cubicBezTo>
                    <a:pt x="0" y="40894"/>
                    <a:pt x="40894" y="0"/>
                    <a:pt x="91440" y="0"/>
                  </a:cubicBezTo>
                  <a:lnTo>
                    <a:pt x="5212080" y="0"/>
                  </a:lnTo>
                  <a:cubicBezTo>
                    <a:pt x="5262626" y="0"/>
                    <a:pt x="5303520" y="40894"/>
                    <a:pt x="5303520" y="91440"/>
                  </a:cubicBezTo>
                  <a:lnTo>
                    <a:pt x="5303520" y="640080"/>
                  </a:lnTo>
                  <a:cubicBezTo>
                    <a:pt x="5303520" y="690626"/>
                    <a:pt x="5262626" y="731520"/>
                    <a:pt x="5212080" y="731520"/>
                  </a:cubicBezTo>
                  <a:lnTo>
                    <a:pt x="91440" y="731520"/>
                  </a:lnTo>
                  <a:cubicBezTo>
                    <a:pt x="40894" y="731520"/>
                    <a:pt x="0" y="690626"/>
                    <a:pt x="0" y="640080"/>
                  </a:cubicBez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114800" y="6995160"/>
            <a:ext cx="3977640" cy="548640"/>
            <a:chOff x="0" y="0"/>
            <a:chExt cx="5303520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03520" cy="731520"/>
            </a:xfrm>
            <a:custGeom>
              <a:avLst/>
              <a:gdLst/>
              <a:ahLst/>
              <a:cxnLst/>
              <a:rect r="r" b="b" t="t" l="l"/>
              <a:pathLst>
                <a:path h="7315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5303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가입하기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114800" y="7818120"/>
            <a:ext cx="3977640" cy="342900"/>
            <a:chOff x="0" y="0"/>
            <a:chExt cx="5303520" cy="457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03520" cy="457200"/>
            </a:xfrm>
            <a:custGeom>
              <a:avLst/>
              <a:gdLst/>
              <a:ahLst/>
              <a:cxnLst/>
              <a:rect r="r" b="b" t="t" l="l"/>
              <a:pathLst>
                <a:path h="4572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3035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B7DD8"/>
                  </a:solidFill>
                  <a:latin typeface="Arial"/>
                  <a:ea typeface="Arial"/>
                  <a:cs typeface="Arial"/>
                  <a:sym typeface="Arial"/>
                </a:rPr>
                <a:t>이미 계정이 있으신가요? 로그인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114800" y="8229600"/>
            <a:ext cx="3977640" cy="342900"/>
            <a:chOff x="0" y="0"/>
            <a:chExt cx="5303520" cy="457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03520" cy="457200"/>
            </a:xfrm>
            <a:custGeom>
              <a:avLst/>
              <a:gdLst/>
              <a:ahLst/>
              <a:cxnLst/>
              <a:rect r="r" b="b" t="t" l="l"/>
              <a:pathLst>
                <a:path h="45720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3035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B7DD8"/>
                  </a:solidFill>
                  <a:latin typeface="Arial"/>
                  <a:ea typeface="Arial"/>
                  <a:cs typeface="Arial"/>
                  <a:sym typeface="Arial"/>
                </a:rPr>
                <a:t>← 홈으로 돌아가기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060555" y="2185035"/>
            <a:ext cx="5505450" cy="6191250"/>
            <a:chOff x="0" y="0"/>
            <a:chExt cx="7340600" cy="8255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406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734060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157085" y="0"/>
                  </a:lnTo>
                  <a:cubicBezTo>
                    <a:pt x="7258431" y="0"/>
                    <a:pt x="7340600" y="82169"/>
                    <a:pt x="7340600" y="183515"/>
                  </a:cubicBezTo>
                  <a:lnTo>
                    <a:pt x="7340600" y="8071485"/>
                  </a:lnTo>
                  <a:cubicBezTo>
                    <a:pt x="7340600" y="8172831"/>
                    <a:pt x="7258431" y="8255000"/>
                    <a:pt x="7157085" y="8255000"/>
                  </a:cubicBezTo>
                  <a:lnTo>
                    <a:pt x="183515" y="8255000"/>
                  </a:lnTo>
                  <a:cubicBezTo>
                    <a:pt x="82169" y="8255000"/>
                    <a:pt x="0" y="8172831"/>
                    <a:pt x="0" y="8071485"/>
                  </a:cubicBez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070080" y="2331720"/>
            <a:ext cx="5486400" cy="548640"/>
            <a:chOff x="0" y="0"/>
            <a:chExt cx="731520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인터랙션 정의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344400" y="3154680"/>
            <a:ext cx="4800600" cy="411480"/>
            <a:chOff x="0" y="0"/>
            <a:chExt cx="64008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[가입하기] 클릭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344400" y="3566160"/>
            <a:ext cx="4800600" cy="960120"/>
            <a:chOff x="0" y="0"/>
            <a:chExt cx="6400800" cy="1280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400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6400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POST /api/register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→ 성공: EC-02 로그인으로 이동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→ 실패: 유효성 에러 표시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44400" y="4800600"/>
            <a:ext cx="4800600" cy="411480"/>
            <a:chOff x="0" y="0"/>
            <a:chExt cx="64008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유효성 검사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44400" y="5212080"/>
            <a:ext cx="4800600" cy="960120"/>
            <a:chOff x="0" y="0"/>
            <a:chExt cx="6400800" cy="1280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400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400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비밀번호 8자 이상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비밀번호 확인 일치 여부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이메일 형식 확인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44400" y="6446520"/>
            <a:ext cx="4800600" cy="411480"/>
            <a:chOff x="0" y="0"/>
            <a:chExt cx="64008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[로그인] 링크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344400" y="6858000"/>
            <a:ext cx="4800600" cy="960120"/>
            <a:chOff x="0" y="0"/>
            <a:chExt cx="6400800" cy="12801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400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4008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EC-02 로그인 화면으로 이동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48640" cy="10287000"/>
            <a:chOff x="0" y="0"/>
            <a:chExt cx="731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10972800" cy="822960"/>
            <a:chOff x="0" y="0"/>
            <a:chExt cx="146304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EC-04  채팅 화면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23444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RAG 기반 AI 챗봇 — 핵심 화면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185035"/>
            <a:ext cx="10306050" cy="7562850"/>
            <a:chOff x="0" y="0"/>
            <a:chExt cx="13741400" cy="10083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10083800"/>
                  </a:lnTo>
                  <a:lnTo>
                    <a:pt x="0" y="100838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5832" y="2180272"/>
            <a:ext cx="3046095" cy="7572375"/>
            <a:chOff x="0" y="0"/>
            <a:chExt cx="4061460" cy="10096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1460" cy="10096500"/>
            </a:xfrm>
            <a:custGeom>
              <a:avLst/>
              <a:gdLst/>
              <a:ahLst/>
              <a:cxnLst/>
              <a:rect r="r" b="b" t="t" l="l"/>
              <a:pathLst>
                <a:path h="10096500" w="4061460">
                  <a:moveTo>
                    <a:pt x="0" y="0"/>
                  </a:moveTo>
                  <a:lnTo>
                    <a:pt x="4061460" y="0"/>
                  </a:lnTo>
                  <a:lnTo>
                    <a:pt x="4061460" y="10096500"/>
                  </a:lnTo>
                  <a:lnTo>
                    <a:pt x="0" y="10096500"/>
                  </a:lnTo>
                  <a:close/>
                </a:path>
              </a:pathLst>
            </a:custGeom>
            <a:solidFill>
              <a:srgbClr val="F0F4F1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331720"/>
            <a:ext cx="2743200" cy="411480"/>
            <a:chOff x="0" y="0"/>
            <a:chExt cx="36576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🌿 Ecobot                      새 대화 [+]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82992" y="2934652"/>
            <a:ext cx="2771775" cy="440055"/>
            <a:chOff x="0" y="0"/>
            <a:chExt cx="36957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957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95700">
                  <a:moveTo>
                    <a:pt x="0" y="0"/>
                  </a:moveTo>
                  <a:lnTo>
                    <a:pt x="3695700" y="0"/>
                  </a:lnTo>
                  <a:lnTo>
                    <a:pt x="3695700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80" y="2948940"/>
            <a:ext cx="2743200" cy="411480"/>
            <a:chOff x="0" y="0"/>
            <a:chExt cx="36576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지역:                        [서울   ▼]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97280" y="3566160"/>
            <a:ext cx="2743200" cy="274320"/>
            <a:chOff x="0" y="0"/>
            <a:chExt cx="3657600" cy="365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5760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657600" cy="38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대화 목록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82992" y="3894772"/>
            <a:ext cx="2771775" cy="440055"/>
            <a:chOff x="0" y="0"/>
            <a:chExt cx="3695700" cy="5867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957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95700">
                  <a:moveTo>
                    <a:pt x="0" y="0"/>
                  </a:moveTo>
                  <a:lnTo>
                    <a:pt x="3695700" y="0"/>
                  </a:lnTo>
                  <a:lnTo>
                    <a:pt x="3695700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E8F5EE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" y="3909060"/>
            <a:ext cx="2743200" cy="411480"/>
            <a:chOff x="0" y="0"/>
            <a:chExt cx="36576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페트병 분리배출...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2992" y="4374832"/>
            <a:ext cx="2771775" cy="440055"/>
            <a:chOff x="0" y="0"/>
            <a:chExt cx="3695700" cy="5867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95700" cy="586740"/>
            </a:xfrm>
            <a:custGeom>
              <a:avLst/>
              <a:gdLst/>
              <a:ahLst/>
              <a:cxnLst/>
              <a:rect r="r" b="b" t="t" l="l"/>
              <a:pathLst>
                <a:path h="586740" w="3695700">
                  <a:moveTo>
                    <a:pt x="0" y="0"/>
                  </a:moveTo>
                  <a:lnTo>
                    <a:pt x="3695700" y="0"/>
                  </a:lnTo>
                  <a:lnTo>
                    <a:pt x="3695700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4389120"/>
            <a:ext cx="2743200" cy="411480"/>
            <a:chOff x="0" y="0"/>
            <a:chExt cx="36576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음식물쓰레기 기준...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82992" y="8763952"/>
            <a:ext cx="2771775" cy="782955"/>
            <a:chOff x="0" y="0"/>
            <a:chExt cx="3695700" cy="10439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95700" cy="1043940"/>
            </a:xfrm>
            <a:custGeom>
              <a:avLst/>
              <a:gdLst/>
              <a:ahLst/>
              <a:cxnLst/>
              <a:rect r="r" b="b" t="t" l="l"/>
              <a:pathLst>
                <a:path h="1043940" w="3695700">
                  <a:moveTo>
                    <a:pt x="0" y="0"/>
                  </a:moveTo>
                  <a:lnTo>
                    <a:pt x="3695700" y="0"/>
                  </a:lnTo>
                  <a:lnTo>
                    <a:pt x="3695700" y="1043940"/>
                  </a:lnTo>
                  <a:lnTo>
                    <a:pt x="0" y="10439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97280" y="8778240"/>
            <a:ext cx="2743200" cy="754380"/>
            <a:chOff x="0" y="0"/>
            <a:chExt cx="365760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65760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👤 사용자</a:t>
              </a:r>
            </a:p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[관리자]  [로그아웃]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937760" y="3223260"/>
            <a:ext cx="5486400" cy="411480"/>
            <a:chOff x="0" y="0"/>
            <a:chExt cx="73152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7315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1B3A2D"/>
                  </a:solidFill>
                  <a:latin typeface="Arial"/>
                  <a:ea typeface="Arial"/>
                  <a:cs typeface="Arial"/>
                  <a:sym typeface="Arial"/>
                </a:rPr>
                <a:t>🌿 Ecobot에 오신 것을 환영합니다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566285" y="3797618"/>
            <a:ext cx="3183255" cy="440055"/>
            <a:chOff x="0" y="0"/>
            <a:chExt cx="4244340" cy="5867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44340" cy="586740"/>
            </a:xfrm>
            <a:custGeom>
              <a:avLst/>
              <a:gdLst/>
              <a:ahLst/>
              <a:cxnLst/>
              <a:rect r="r" b="b" t="t" l="l"/>
              <a:pathLst>
                <a:path h="586740" w="4244340">
                  <a:moveTo>
                    <a:pt x="0" y="0"/>
                  </a:moveTo>
                  <a:lnTo>
                    <a:pt x="4244340" y="0"/>
                  </a:lnTo>
                  <a:lnTo>
                    <a:pt x="4244340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D8B4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4594860" y="3826192"/>
            <a:ext cx="3154680" cy="411480"/>
            <a:chOff x="0" y="0"/>
            <a:chExt cx="420624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206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2D8B4E"/>
                  </a:solidFill>
                  <a:latin typeface="Arial"/>
                  <a:ea typeface="Arial"/>
                  <a:cs typeface="Arial"/>
                  <a:sym typeface="Arial"/>
                </a:rPr>
                <a:t>배달 용기 분리수거?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955280" y="3797618"/>
            <a:ext cx="3183255" cy="440055"/>
            <a:chOff x="0" y="0"/>
            <a:chExt cx="4244340" cy="586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244340" cy="586740"/>
            </a:xfrm>
            <a:custGeom>
              <a:avLst/>
              <a:gdLst/>
              <a:ahLst/>
              <a:cxnLst/>
              <a:rect r="r" b="b" t="t" l="l"/>
              <a:pathLst>
                <a:path h="586740" w="4244340">
                  <a:moveTo>
                    <a:pt x="0" y="0"/>
                  </a:moveTo>
                  <a:lnTo>
                    <a:pt x="4244340" y="0"/>
                  </a:lnTo>
                  <a:lnTo>
                    <a:pt x="4244340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D8B4E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4566285" y="4558665"/>
            <a:ext cx="3183255" cy="440055"/>
            <a:chOff x="0" y="0"/>
            <a:chExt cx="4244340" cy="5867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244340" cy="586740"/>
            </a:xfrm>
            <a:custGeom>
              <a:avLst/>
              <a:gdLst/>
              <a:ahLst/>
              <a:cxnLst/>
              <a:rect r="r" b="b" t="t" l="l"/>
              <a:pathLst>
                <a:path h="586740" w="4244340">
                  <a:moveTo>
                    <a:pt x="0" y="0"/>
                  </a:moveTo>
                  <a:lnTo>
                    <a:pt x="4244340" y="0"/>
                  </a:lnTo>
                  <a:lnTo>
                    <a:pt x="4244340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D8B4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4594860" y="4580572"/>
            <a:ext cx="3154680" cy="411480"/>
            <a:chOff x="0" y="0"/>
            <a:chExt cx="420624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206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2D8B4E"/>
                  </a:solidFill>
                  <a:latin typeface="Arial"/>
                  <a:ea typeface="Arial"/>
                  <a:cs typeface="Arial"/>
                  <a:sym typeface="Arial"/>
                </a:rPr>
                <a:t>음식물쓰레기 배출?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969568" y="4558665"/>
            <a:ext cx="3183255" cy="440055"/>
            <a:chOff x="0" y="0"/>
            <a:chExt cx="4244340" cy="5867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44340" cy="586740"/>
            </a:xfrm>
            <a:custGeom>
              <a:avLst/>
              <a:gdLst/>
              <a:ahLst/>
              <a:cxnLst/>
              <a:rect r="r" b="b" t="t" l="l"/>
              <a:pathLst>
                <a:path h="586740" w="4244340">
                  <a:moveTo>
                    <a:pt x="0" y="0"/>
                  </a:moveTo>
                  <a:lnTo>
                    <a:pt x="4244340" y="0"/>
                  </a:lnTo>
                  <a:lnTo>
                    <a:pt x="4244340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2D8B4E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7998143" y="4571047"/>
            <a:ext cx="3154680" cy="411480"/>
            <a:chOff x="0" y="0"/>
            <a:chExt cx="420624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4206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2D8B4E"/>
                  </a:solidFill>
                  <a:latin typeface="Arial"/>
                  <a:ea typeface="Arial"/>
                  <a:cs typeface="Arial"/>
                  <a:sym typeface="Arial"/>
                </a:rPr>
                <a:t>페트병 라벨 떼야 해?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969568" y="3826193"/>
            <a:ext cx="3154680" cy="411480"/>
            <a:chOff x="0" y="0"/>
            <a:chExt cx="420624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206240" cy="548640"/>
            </a:xfrm>
            <a:custGeom>
              <a:avLst/>
              <a:gdLst/>
              <a:ahLst/>
              <a:cxnLst/>
              <a:rect r="r" b="b" t="t" l="l"/>
              <a:pathLst>
                <a:path h="54864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420624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2D8B4E"/>
                  </a:solidFill>
                  <a:latin typeface="Arial"/>
                  <a:ea typeface="Arial"/>
                  <a:cs typeface="Arial"/>
                  <a:sym typeface="Arial"/>
                </a:rPr>
                <a:t>뼈다귀는 음식물?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653915" y="5341620"/>
            <a:ext cx="4072745" cy="1636617"/>
            <a:chOff x="0" y="0"/>
            <a:chExt cx="8255000" cy="33172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55000" cy="3317240"/>
            </a:xfrm>
            <a:custGeom>
              <a:avLst/>
              <a:gdLst/>
              <a:ahLst/>
              <a:cxnLst/>
              <a:rect r="r" b="b" t="t" l="l"/>
              <a:pathLst>
                <a:path h="3317240" w="825500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8107553" y="0"/>
                  </a:lnTo>
                  <a:cubicBezTo>
                    <a:pt x="8188960" y="0"/>
                    <a:pt x="8255000" y="66040"/>
                    <a:pt x="8255000" y="147447"/>
                  </a:cubicBezTo>
                  <a:lnTo>
                    <a:pt x="8255000" y="3169793"/>
                  </a:lnTo>
                  <a:cubicBezTo>
                    <a:pt x="8255000" y="3251200"/>
                    <a:pt x="8188960" y="3317240"/>
                    <a:pt x="8107553" y="3317240"/>
                  </a:cubicBezTo>
                  <a:lnTo>
                    <a:pt x="147447" y="3317240"/>
                  </a:lnTo>
                  <a:cubicBezTo>
                    <a:pt x="66040" y="3317240"/>
                    <a:pt x="0" y="3251200"/>
                    <a:pt x="0" y="3169793"/>
                  </a:cubicBezTo>
                  <a:close/>
                </a:path>
              </a:pathLst>
            </a:custGeom>
            <a:solidFill>
              <a:srgbClr val="E8F5EE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4732020" y="5370290"/>
            <a:ext cx="3994640" cy="1579276"/>
            <a:chOff x="0" y="0"/>
            <a:chExt cx="7863840" cy="31089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8638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24" t="0" r="-724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7863840" cy="3128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📋 답변</a:t>
              </a:r>
            </a:p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페트병은 내용물을 비우고 라벨을 제거한 뒤</a:t>
              </a:r>
            </a:p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투명/유색 분리하여 배출합니다.</a:t>
              </a:r>
            </a:p>
            <a:p>
              <a:pPr algn="l">
                <a:lnSpc>
                  <a:spcPts val="1439"/>
                </a:lnSpc>
              </a:pPr>
            </a:p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💡 실천 팁</a:t>
              </a:r>
            </a:p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라벨 제거가 어려우면 가위로 절개하세요.</a:t>
              </a:r>
            </a:p>
            <a:p>
              <a:pPr algn="l">
                <a:lnSpc>
                  <a:spcPts val="1439"/>
                </a:lnSpc>
              </a:pPr>
            </a:p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📎 출처: 서울시 분리배출 요령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786312" y="8901112"/>
            <a:ext cx="5926455" cy="577215"/>
            <a:chOff x="0" y="0"/>
            <a:chExt cx="7901940" cy="7696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901940" cy="769620"/>
            </a:xfrm>
            <a:custGeom>
              <a:avLst/>
              <a:gdLst/>
              <a:ahLst/>
              <a:cxnLst/>
              <a:rect r="r" b="b" t="t" l="l"/>
              <a:pathLst>
                <a:path h="769620" w="7901940">
                  <a:moveTo>
                    <a:pt x="0" y="0"/>
                  </a:moveTo>
                  <a:lnTo>
                    <a:pt x="7901940" y="0"/>
                  </a:lnTo>
                  <a:lnTo>
                    <a:pt x="7901940" y="769620"/>
                  </a:lnTo>
                  <a:lnTo>
                    <a:pt x="0" y="7696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4800600" y="8915400"/>
            <a:ext cx="5897880" cy="548640"/>
            <a:chOff x="0" y="0"/>
            <a:chExt cx="786384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863840" cy="731520"/>
            </a:xfrm>
            <a:custGeom>
              <a:avLst/>
              <a:gdLst/>
              <a:ahLst/>
              <a:cxnLst/>
              <a:rect r="r" b="b" t="t" l="l"/>
              <a:pathLst>
                <a:path h="73152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9050"/>
              <a:ext cx="78638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   환경 실천에 관해 질문하세요...                  [전송]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060555" y="2185035"/>
            <a:ext cx="5505450" cy="7562850"/>
            <a:chOff x="0" y="0"/>
            <a:chExt cx="7340600" cy="10083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406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734060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157085" y="0"/>
                  </a:lnTo>
                  <a:cubicBezTo>
                    <a:pt x="7258431" y="0"/>
                    <a:pt x="7340600" y="82169"/>
                    <a:pt x="7340600" y="183515"/>
                  </a:cubicBezTo>
                  <a:lnTo>
                    <a:pt x="7340600" y="9900285"/>
                  </a:lnTo>
                  <a:cubicBezTo>
                    <a:pt x="7340600" y="10001631"/>
                    <a:pt x="7258431" y="10083800"/>
                    <a:pt x="7157085" y="10083800"/>
                  </a:cubicBezTo>
                  <a:lnTo>
                    <a:pt x="183515" y="10083800"/>
                  </a:lnTo>
                  <a:cubicBezTo>
                    <a:pt x="82169" y="10083800"/>
                    <a:pt x="0" y="10001631"/>
                    <a:pt x="0" y="9900285"/>
                  </a:cubicBez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2070080" y="2331720"/>
            <a:ext cx="5486400" cy="548640"/>
            <a:chOff x="0" y="0"/>
            <a:chExt cx="731520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인터랙션 정의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344400" y="3017520"/>
            <a:ext cx="4800600" cy="411480"/>
            <a:chOff x="0" y="0"/>
            <a:chExt cx="640080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질문 전송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344400" y="3429000"/>
            <a:ext cx="4800600" cy="891540"/>
            <a:chOff x="0" y="0"/>
            <a:chExt cx="6400800" cy="118872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POST /api/rag/ask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region 파라미터 포함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답변 + 실천팁 + 출처 표시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344400" y="4594860"/>
            <a:ext cx="4800600" cy="411480"/>
            <a:chOff x="0" y="0"/>
            <a:chExt cx="6400800" cy="5486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지역 선택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344400" y="5006340"/>
            <a:ext cx="4800600" cy="891540"/>
            <a:chOff x="0" y="0"/>
            <a:chExt cx="6400800" cy="11887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서울/천안/부산 남구 등 6개 지역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RAG 검색 시 메타데이터 필터링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344400" y="6172200"/>
            <a:ext cx="4800600" cy="411480"/>
            <a:chOff x="0" y="0"/>
            <a:chExt cx="6400800" cy="5486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[+] 새 대화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2344400" y="6583680"/>
            <a:ext cx="4800600" cy="891540"/>
            <a:chOff x="0" y="0"/>
            <a:chExt cx="6400800" cy="11887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POST /api/conversations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새 대화 세션 생성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344400" y="7749540"/>
            <a:ext cx="4800600" cy="411480"/>
            <a:chOff x="0" y="0"/>
            <a:chExt cx="640080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답변 구조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344400" y="8161020"/>
            <a:ext cx="4800600" cy="891540"/>
            <a:chOff x="0" y="0"/>
            <a:chExt cx="6400800" cy="11887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📋 답변 (근거 기반)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💡 실천 팁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📎 출처 (문서명)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395585" y="2388021"/>
            <a:ext cx="728662" cy="436039"/>
            <a:chOff x="0" y="0"/>
            <a:chExt cx="191911" cy="11484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91911" cy="114841"/>
            </a:xfrm>
            <a:custGeom>
              <a:avLst/>
              <a:gdLst/>
              <a:ahLst/>
              <a:cxnLst/>
              <a:rect r="r" b="b" t="t" l="l"/>
              <a:pathLst>
                <a:path h="114841" w="191911">
                  <a:moveTo>
                    <a:pt x="0" y="0"/>
                  </a:moveTo>
                  <a:lnTo>
                    <a:pt x="191911" y="0"/>
                  </a:lnTo>
                  <a:lnTo>
                    <a:pt x="191911" y="114841"/>
                  </a:lnTo>
                  <a:lnTo>
                    <a:pt x="0" y="114841"/>
                  </a:lnTo>
                  <a:close/>
                </a:path>
              </a:pathLst>
            </a:custGeom>
            <a:solidFill>
              <a:srgbClr val="97BC62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191911" cy="133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</a:p>
          </p:txBody>
        </p:sp>
      </p:grpSp>
      <p:sp>
        <p:nvSpPr>
          <p:cNvPr name="TextBox 105" id="105"/>
          <p:cNvSpPr txBox="true"/>
          <p:nvPr/>
        </p:nvSpPr>
        <p:spPr>
          <a:xfrm rot="0">
            <a:off x="10395585" y="2472690"/>
            <a:ext cx="72866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서울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48640" cy="10287000"/>
            <a:chOff x="0" y="0"/>
            <a:chExt cx="731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10972800" cy="822960"/>
            <a:chOff x="0" y="0"/>
            <a:chExt cx="146304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EC-05  가이드 안내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23444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카테고리별/지역별 환경 실천 가이드 열람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185035"/>
            <a:ext cx="10306050" cy="7562850"/>
            <a:chOff x="0" y="0"/>
            <a:chExt cx="13741400" cy="10083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10083800"/>
                  </a:lnTo>
                  <a:lnTo>
                    <a:pt x="0" y="100838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0152" y="2386012"/>
            <a:ext cx="9766935" cy="577215"/>
            <a:chOff x="0" y="0"/>
            <a:chExt cx="13022580" cy="7696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22580" cy="769620"/>
            </a:xfrm>
            <a:custGeom>
              <a:avLst/>
              <a:gdLst/>
              <a:ahLst/>
              <a:cxnLst/>
              <a:rect r="r" b="b" t="t" l="l"/>
              <a:pathLst>
                <a:path h="769620" w="13022580">
                  <a:moveTo>
                    <a:pt x="0" y="0"/>
                  </a:moveTo>
                  <a:lnTo>
                    <a:pt x="13022580" y="0"/>
                  </a:lnTo>
                  <a:lnTo>
                    <a:pt x="13022580" y="769620"/>
                  </a:lnTo>
                  <a:lnTo>
                    <a:pt x="0" y="7696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2400300"/>
            <a:ext cx="9738360" cy="548640"/>
            <a:chOff x="0" y="0"/>
            <a:chExt cx="129844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8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2984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🌿 Ecobot                                                                                                                                            [← 홈으로]  [챗봇 상담]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31633" y="3277553"/>
            <a:ext cx="8943975" cy="5789295"/>
            <a:chOff x="0" y="0"/>
            <a:chExt cx="11925300" cy="77190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25300" cy="7719060"/>
            </a:xfrm>
            <a:custGeom>
              <a:avLst/>
              <a:gdLst/>
              <a:ahLst/>
              <a:cxnLst/>
              <a:rect r="r" b="b" t="t" l="l"/>
              <a:pathLst>
                <a:path h="7719060" w="11925300">
                  <a:moveTo>
                    <a:pt x="0" y="0"/>
                  </a:moveTo>
                  <a:lnTo>
                    <a:pt x="11925300" y="0"/>
                  </a:lnTo>
                  <a:lnTo>
                    <a:pt x="11925300" y="7719060"/>
                  </a:lnTo>
                  <a:lnTo>
                    <a:pt x="0" y="771906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920240" y="3429000"/>
            <a:ext cx="4114800" cy="480060"/>
            <a:chOff x="0" y="0"/>
            <a:chExt cx="54864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640080"/>
            </a:xfrm>
            <a:custGeom>
              <a:avLst/>
              <a:gdLst/>
              <a:ahLst/>
              <a:cxnLst/>
              <a:rect r="r" b="b" t="t" l="l"/>
              <a:pathLst>
                <a:path h="64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486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분리배출 안내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920240" y="3909060"/>
            <a:ext cx="8229600" cy="342900"/>
            <a:chOff x="0" y="0"/>
            <a:chExt cx="10972800" cy="457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9728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환경부 가이드라인 및 지역 조례 기반</a:t>
              </a:r>
              <a:r>
                <a:rPr lang="en-US" sz="15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905952" y="4511992"/>
            <a:ext cx="2634615" cy="1605915"/>
            <a:chOff x="0" y="0"/>
            <a:chExt cx="3512820" cy="21412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12820" cy="2141220"/>
            </a:xfrm>
            <a:custGeom>
              <a:avLst/>
              <a:gdLst/>
              <a:ahLst/>
              <a:cxnLst/>
              <a:rect r="r" b="b" t="t" l="l"/>
              <a:pathLst>
                <a:path h="2141220" w="3512820">
                  <a:moveTo>
                    <a:pt x="0" y="0"/>
                  </a:moveTo>
                  <a:lnTo>
                    <a:pt x="3512820" y="0"/>
                  </a:lnTo>
                  <a:lnTo>
                    <a:pt x="3512820" y="2141220"/>
                  </a:lnTo>
                  <a:lnTo>
                    <a:pt x="0" y="214122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923097" y="4852035"/>
            <a:ext cx="2606040" cy="548640"/>
            <a:chOff x="0" y="0"/>
            <a:chExt cx="347472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34747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📦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34527" y="5280660"/>
            <a:ext cx="2606040" cy="411480"/>
            <a:chOff x="0" y="0"/>
            <a:chExt cx="347472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종이류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20240" y="5554980"/>
            <a:ext cx="2606040" cy="342900"/>
            <a:chOff x="0" y="0"/>
            <a:chExt cx="3474720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74720" cy="457200"/>
            </a:xfrm>
            <a:custGeom>
              <a:avLst/>
              <a:gdLst/>
              <a:ahLst/>
              <a:cxnLst/>
              <a:rect r="r" b="b" t="t" l="l"/>
              <a:pathLst>
                <a:path h="4572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34747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신문지, 상자, 종이컵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786312" y="4511992"/>
            <a:ext cx="2634615" cy="1605915"/>
            <a:chOff x="0" y="0"/>
            <a:chExt cx="3512820" cy="21412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12820" cy="2141220"/>
            </a:xfrm>
            <a:custGeom>
              <a:avLst/>
              <a:gdLst/>
              <a:ahLst/>
              <a:cxnLst/>
              <a:rect r="r" b="b" t="t" l="l"/>
              <a:pathLst>
                <a:path h="2141220" w="3512820">
                  <a:moveTo>
                    <a:pt x="0" y="0"/>
                  </a:moveTo>
                  <a:lnTo>
                    <a:pt x="3512820" y="0"/>
                  </a:lnTo>
                  <a:lnTo>
                    <a:pt x="3512820" y="2141220"/>
                  </a:lnTo>
                  <a:lnTo>
                    <a:pt x="0" y="214122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800600" y="4766310"/>
            <a:ext cx="2606040" cy="548640"/>
            <a:chOff x="0" y="0"/>
            <a:chExt cx="34747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34747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🥫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814888" y="5280660"/>
            <a:ext cx="2606040" cy="411480"/>
            <a:chOff x="0" y="0"/>
            <a:chExt cx="34747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캔/금속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800600" y="5554980"/>
            <a:ext cx="2606040" cy="342900"/>
            <a:chOff x="0" y="0"/>
            <a:chExt cx="3474720" cy="457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74720" cy="457200"/>
            </a:xfrm>
            <a:custGeom>
              <a:avLst/>
              <a:gdLst/>
              <a:ahLst/>
              <a:cxnLst/>
              <a:rect r="r" b="b" t="t" l="l"/>
              <a:pathLst>
                <a:path h="4572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4747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알루미늄캔, 철캔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666672" y="4511992"/>
            <a:ext cx="2634615" cy="1605915"/>
            <a:chOff x="0" y="0"/>
            <a:chExt cx="3512820" cy="21412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512820" cy="2141220"/>
            </a:xfrm>
            <a:custGeom>
              <a:avLst/>
              <a:gdLst/>
              <a:ahLst/>
              <a:cxnLst/>
              <a:rect r="r" b="b" t="t" l="l"/>
              <a:pathLst>
                <a:path h="2141220" w="3512820">
                  <a:moveTo>
                    <a:pt x="0" y="0"/>
                  </a:moveTo>
                  <a:lnTo>
                    <a:pt x="3512820" y="0"/>
                  </a:lnTo>
                  <a:lnTo>
                    <a:pt x="3512820" y="2141220"/>
                  </a:lnTo>
                  <a:lnTo>
                    <a:pt x="0" y="214122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716203" y="4766310"/>
            <a:ext cx="2606040" cy="548640"/>
            <a:chOff x="0" y="0"/>
            <a:chExt cx="34747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34747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🍶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680960" y="5280660"/>
            <a:ext cx="2606040" cy="411480"/>
            <a:chOff x="0" y="0"/>
            <a:chExt cx="347472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유리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680960" y="5554980"/>
            <a:ext cx="2606040" cy="342900"/>
            <a:chOff x="0" y="0"/>
            <a:chExt cx="3474720" cy="457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74720" cy="457200"/>
            </a:xfrm>
            <a:custGeom>
              <a:avLst/>
              <a:gdLst/>
              <a:ahLst/>
              <a:cxnLst/>
              <a:rect r="r" b="b" t="t" l="l"/>
              <a:pathLst>
                <a:path h="4572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34747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유리병, 유리컵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905952" y="6432232"/>
            <a:ext cx="2634615" cy="1605915"/>
            <a:chOff x="0" y="0"/>
            <a:chExt cx="3512820" cy="21412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512820" cy="2141220"/>
            </a:xfrm>
            <a:custGeom>
              <a:avLst/>
              <a:gdLst/>
              <a:ahLst/>
              <a:cxnLst/>
              <a:rect r="r" b="b" t="t" l="l"/>
              <a:pathLst>
                <a:path h="2141220" w="3512820">
                  <a:moveTo>
                    <a:pt x="0" y="0"/>
                  </a:moveTo>
                  <a:lnTo>
                    <a:pt x="3512820" y="0"/>
                  </a:lnTo>
                  <a:lnTo>
                    <a:pt x="3512820" y="2141220"/>
                  </a:lnTo>
                  <a:lnTo>
                    <a:pt x="0" y="214122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934527" y="6730365"/>
            <a:ext cx="2606040" cy="548640"/>
            <a:chOff x="0" y="0"/>
            <a:chExt cx="347472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66675"/>
              <a:ext cx="34747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🧴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920240" y="7235190"/>
            <a:ext cx="2606040" cy="411480"/>
            <a:chOff x="0" y="0"/>
            <a:chExt cx="347472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플라스틱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934527" y="7536180"/>
            <a:ext cx="2606040" cy="342900"/>
            <a:chOff x="0" y="0"/>
            <a:chExt cx="3474720" cy="457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474720" cy="457200"/>
            </a:xfrm>
            <a:custGeom>
              <a:avLst/>
              <a:gdLst/>
              <a:ahLst/>
              <a:cxnLst/>
              <a:rect r="r" b="b" t="t" l="l"/>
              <a:pathLst>
                <a:path h="4572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4747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페트병, 용기류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786312" y="6432232"/>
            <a:ext cx="2634615" cy="1605915"/>
            <a:chOff x="0" y="0"/>
            <a:chExt cx="3512820" cy="21412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512820" cy="2141220"/>
            </a:xfrm>
            <a:custGeom>
              <a:avLst/>
              <a:gdLst/>
              <a:ahLst/>
              <a:cxnLst/>
              <a:rect r="r" b="b" t="t" l="l"/>
              <a:pathLst>
                <a:path h="2141220" w="3512820">
                  <a:moveTo>
                    <a:pt x="0" y="0"/>
                  </a:moveTo>
                  <a:lnTo>
                    <a:pt x="3512820" y="0"/>
                  </a:lnTo>
                  <a:lnTo>
                    <a:pt x="3512820" y="2141220"/>
                  </a:lnTo>
                  <a:lnTo>
                    <a:pt x="0" y="214122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4814888" y="6686550"/>
            <a:ext cx="2606040" cy="548640"/>
            <a:chOff x="0" y="0"/>
            <a:chExt cx="347472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34747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🛍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800600" y="7235190"/>
            <a:ext cx="2606040" cy="411480"/>
            <a:chOff x="0" y="0"/>
            <a:chExt cx="347472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비닐류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814888" y="7536180"/>
            <a:ext cx="2606040" cy="342900"/>
            <a:chOff x="0" y="0"/>
            <a:chExt cx="3474720" cy="457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474720" cy="457200"/>
            </a:xfrm>
            <a:custGeom>
              <a:avLst/>
              <a:gdLst/>
              <a:ahLst/>
              <a:cxnLst/>
              <a:rect r="r" b="b" t="t" l="l"/>
              <a:pathLst>
                <a:path h="4572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34747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봉투, 랩, 포장재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7666672" y="6432232"/>
            <a:ext cx="2634615" cy="1605915"/>
            <a:chOff x="0" y="0"/>
            <a:chExt cx="3512820" cy="21412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12820" cy="2141220"/>
            </a:xfrm>
            <a:custGeom>
              <a:avLst/>
              <a:gdLst/>
              <a:ahLst/>
              <a:cxnLst/>
              <a:rect r="r" b="b" t="t" l="l"/>
              <a:pathLst>
                <a:path h="2141220" w="3512820">
                  <a:moveTo>
                    <a:pt x="0" y="0"/>
                  </a:moveTo>
                  <a:lnTo>
                    <a:pt x="3512820" y="0"/>
                  </a:lnTo>
                  <a:lnTo>
                    <a:pt x="3512820" y="2141220"/>
                  </a:lnTo>
                  <a:lnTo>
                    <a:pt x="0" y="2141220"/>
                  </a:lnTo>
                  <a:close/>
                </a:path>
              </a:pathLst>
            </a:custGeom>
            <a:solidFill>
              <a:srgbClr val="F5F5F5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7716203" y="6686550"/>
            <a:ext cx="2606040" cy="548640"/>
            <a:chOff x="0" y="0"/>
            <a:chExt cx="3474720" cy="7315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347472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🔋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680960" y="7235190"/>
            <a:ext cx="2606040" cy="411480"/>
            <a:chOff x="0" y="0"/>
            <a:chExt cx="347472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474720" cy="548640"/>
            </a:xfrm>
            <a:custGeom>
              <a:avLst/>
              <a:gdLst/>
              <a:ahLst/>
              <a:cxnLst/>
              <a:rect r="r" b="b" t="t" l="l"/>
              <a:pathLst>
                <a:path h="54864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3474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유해폐기물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680960" y="7536180"/>
            <a:ext cx="2606040" cy="342900"/>
            <a:chOff x="0" y="0"/>
            <a:chExt cx="3474720" cy="4572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474720" cy="457200"/>
            </a:xfrm>
            <a:custGeom>
              <a:avLst/>
              <a:gdLst/>
              <a:ahLst/>
              <a:cxnLst/>
              <a:rect r="r" b="b" t="t" l="l"/>
              <a:pathLst>
                <a:path h="4572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347472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건전지, 형광등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2060555" y="2185035"/>
            <a:ext cx="5505450" cy="4819650"/>
            <a:chOff x="0" y="0"/>
            <a:chExt cx="7340600" cy="64262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340600" cy="6426200"/>
            </a:xfrm>
            <a:custGeom>
              <a:avLst/>
              <a:gdLst/>
              <a:ahLst/>
              <a:cxnLst/>
              <a:rect r="r" b="b" t="t" l="l"/>
              <a:pathLst>
                <a:path h="6426200" w="7340600">
                  <a:moveTo>
                    <a:pt x="0" y="183642"/>
                  </a:moveTo>
                  <a:cubicBezTo>
                    <a:pt x="0" y="82169"/>
                    <a:pt x="82169" y="0"/>
                    <a:pt x="183642" y="0"/>
                  </a:cubicBezTo>
                  <a:lnTo>
                    <a:pt x="7156958" y="0"/>
                  </a:lnTo>
                  <a:cubicBezTo>
                    <a:pt x="7258431" y="0"/>
                    <a:pt x="7340600" y="82169"/>
                    <a:pt x="7340600" y="183642"/>
                  </a:cubicBezTo>
                  <a:lnTo>
                    <a:pt x="7340600" y="6242558"/>
                  </a:lnTo>
                  <a:cubicBezTo>
                    <a:pt x="7340600" y="6343904"/>
                    <a:pt x="7258431" y="6426200"/>
                    <a:pt x="7156958" y="6426200"/>
                  </a:cubicBezTo>
                  <a:lnTo>
                    <a:pt x="183642" y="6426200"/>
                  </a:lnTo>
                  <a:cubicBezTo>
                    <a:pt x="82169" y="6426200"/>
                    <a:pt x="0" y="6344031"/>
                    <a:pt x="0" y="6242558"/>
                  </a:cubicBez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2070080" y="2331720"/>
            <a:ext cx="5486400" cy="548640"/>
            <a:chOff x="0" y="0"/>
            <a:chExt cx="7315200" cy="731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인터랙션 정의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344400" y="3154680"/>
            <a:ext cx="4800600" cy="411480"/>
            <a:chOff x="0" y="0"/>
            <a:chExt cx="6400800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카테고리 클릭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344400" y="3566160"/>
            <a:ext cx="4800600" cy="685800"/>
            <a:chOff x="0" y="0"/>
            <a:chExt cx="6400800" cy="9144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64008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해당 분야의 상세 가이드 표시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(분리배출/음식물/에너지)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2344400" y="4526280"/>
            <a:ext cx="4800600" cy="411480"/>
            <a:chOff x="0" y="0"/>
            <a:chExt cx="6400800" cy="5486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[챗봇 상담] 클릭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2344400" y="4937760"/>
            <a:ext cx="4800600" cy="685800"/>
            <a:chOff x="0" y="0"/>
            <a:chExt cx="6400800" cy="9144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19050"/>
              <a:ext cx="64008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EC-04 채팅 화면으로 이동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344400" y="5897880"/>
            <a:ext cx="4800600" cy="411480"/>
            <a:chOff x="0" y="0"/>
            <a:chExt cx="6400800" cy="54864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동적 렌더링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344400" y="6309360"/>
            <a:ext cx="4800600" cy="685800"/>
            <a:chOff x="0" y="0"/>
            <a:chExt cx="6400800" cy="9144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64008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JS로 가이드 콘텐츠를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카테고리/지역에 따라 렌더링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48640" cy="10287000"/>
            <a:chOff x="0" y="0"/>
            <a:chExt cx="731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10972800" cy="822960"/>
            <a:chOff x="0" y="0"/>
            <a:chExt cx="146304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EC-06  서비스 소개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23444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EcoBot 서비스 개요 및 기능 소개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185035"/>
            <a:ext cx="10306050" cy="7562850"/>
            <a:chOff x="0" y="0"/>
            <a:chExt cx="13741400" cy="10083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10083800"/>
                  </a:lnTo>
                  <a:lnTo>
                    <a:pt x="0" y="100838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0152" y="2386012"/>
            <a:ext cx="9766935" cy="577215"/>
            <a:chOff x="0" y="0"/>
            <a:chExt cx="13022580" cy="7696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22580" cy="769620"/>
            </a:xfrm>
            <a:custGeom>
              <a:avLst/>
              <a:gdLst/>
              <a:ahLst/>
              <a:cxnLst/>
              <a:rect r="r" b="b" t="t" l="l"/>
              <a:pathLst>
                <a:path h="769620" w="13022580">
                  <a:moveTo>
                    <a:pt x="0" y="0"/>
                  </a:moveTo>
                  <a:lnTo>
                    <a:pt x="13022580" y="0"/>
                  </a:lnTo>
                  <a:lnTo>
                    <a:pt x="13022580" y="769620"/>
                  </a:lnTo>
                  <a:lnTo>
                    <a:pt x="0" y="7696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631633" y="3277553"/>
            <a:ext cx="8943975" cy="1400175"/>
            <a:chOff x="0" y="0"/>
            <a:chExt cx="11925300" cy="1866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9253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11925300">
                  <a:moveTo>
                    <a:pt x="0" y="0"/>
                  </a:moveTo>
                  <a:lnTo>
                    <a:pt x="11925300" y="0"/>
                  </a:lnTo>
                  <a:lnTo>
                    <a:pt x="11925300" y="1866900"/>
                  </a:lnTo>
                  <a:lnTo>
                    <a:pt x="0" y="1866900"/>
                  </a:lnTo>
                  <a:close/>
                </a:path>
              </a:pathLst>
            </a:custGeom>
            <a:solidFill>
              <a:srgbClr val="E8F5EE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45920" y="3360420"/>
            <a:ext cx="8915400" cy="1234440"/>
            <a:chOff x="0" y="0"/>
            <a:chExt cx="1188720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87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887200">
                  <a:moveTo>
                    <a:pt x="0" y="0"/>
                  </a:moveTo>
                  <a:lnTo>
                    <a:pt x="11887200" y="0"/>
                  </a:lnTo>
                  <a:lnTo>
                    <a:pt x="11887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725" r="0" b="-907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18872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Ecobot 서비스 소개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기반 생활환경 실천 안내 서비스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31633" y="5060632"/>
            <a:ext cx="2771775" cy="2085975"/>
            <a:chOff x="0" y="0"/>
            <a:chExt cx="3695700" cy="2781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95700" cy="2781300"/>
            </a:xfrm>
            <a:custGeom>
              <a:avLst/>
              <a:gdLst/>
              <a:ahLst/>
              <a:cxnLst/>
              <a:rect r="r" b="b" t="t" l="l"/>
              <a:pathLst>
                <a:path h="2781300" w="3695700">
                  <a:moveTo>
                    <a:pt x="0" y="0"/>
                  </a:moveTo>
                  <a:lnTo>
                    <a:pt x="3695700" y="0"/>
                  </a:lnTo>
                  <a:lnTo>
                    <a:pt x="3695700" y="2781300"/>
                  </a:lnTo>
                  <a:lnTo>
                    <a:pt x="0" y="27813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645920" y="5212080"/>
            <a:ext cx="2743200" cy="411480"/>
            <a:chOff x="0" y="0"/>
            <a:chExt cx="36576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45920" y="5692140"/>
            <a:ext cx="2743200" cy="411480"/>
            <a:chOff x="0" y="0"/>
            <a:chExt cx="36576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지역 맞춤 안내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45920" y="6172200"/>
            <a:ext cx="2743200" cy="685800"/>
            <a:chOff x="0" y="0"/>
            <a:chExt cx="36576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657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6개 지역별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분리배출 기준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649153" y="5060632"/>
            <a:ext cx="2771775" cy="2085975"/>
            <a:chOff x="0" y="0"/>
            <a:chExt cx="3695700" cy="27813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95700" cy="2781300"/>
            </a:xfrm>
            <a:custGeom>
              <a:avLst/>
              <a:gdLst/>
              <a:ahLst/>
              <a:cxnLst/>
              <a:rect r="r" b="b" t="t" l="l"/>
              <a:pathLst>
                <a:path h="2781300" w="3695700">
                  <a:moveTo>
                    <a:pt x="0" y="0"/>
                  </a:moveTo>
                  <a:lnTo>
                    <a:pt x="3695700" y="0"/>
                  </a:lnTo>
                  <a:lnTo>
                    <a:pt x="3695700" y="2781300"/>
                  </a:lnTo>
                  <a:lnTo>
                    <a:pt x="0" y="27813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663440" y="5212080"/>
            <a:ext cx="2743200" cy="411480"/>
            <a:chOff x="0" y="0"/>
            <a:chExt cx="36576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663440" y="5692140"/>
            <a:ext cx="2743200" cy="411480"/>
            <a:chOff x="0" y="0"/>
            <a:chExt cx="365760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챗봇 상담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663440" y="6172200"/>
            <a:ext cx="2743200" cy="685800"/>
            <a:chOff x="0" y="0"/>
            <a:chExt cx="36576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3657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RAG 기반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근거 있는 답변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66672" y="5060632"/>
            <a:ext cx="2771775" cy="2085975"/>
            <a:chOff x="0" y="0"/>
            <a:chExt cx="3695700" cy="27813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95700" cy="2781300"/>
            </a:xfrm>
            <a:custGeom>
              <a:avLst/>
              <a:gdLst/>
              <a:ahLst/>
              <a:cxnLst/>
              <a:rect r="r" b="b" t="t" l="l"/>
              <a:pathLst>
                <a:path h="2781300" w="3695700">
                  <a:moveTo>
                    <a:pt x="0" y="0"/>
                  </a:moveTo>
                  <a:lnTo>
                    <a:pt x="3695700" y="0"/>
                  </a:lnTo>
                  <a:lnTo>
                    <a:pt x="3695700" y="2781300"/>
                  </a:lnTo>
                  <a:lnTo>
                    <a:pt x="0" y="27813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7680960" y="5212080"/>
            <a:ext cx="2743200" cy="411480"/>
            <a:chOff x="0" y="0"/>
            <a:chExt cx="36576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680960" y="5692140"/>
            <a:ext cx="2743200" cy="411480"/>
            <a:chOff x="0" y="0"/>
            <a:chExt cx="365760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공식 데이터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680960" y="6172200"/>
            <a:ext cx="2743200" cy="685800"/>
            <a:chOff x="0" y="0"/>
            <a:chExt cx="36576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914400"/>
            </a:xfrm>
            <a:custGeom>
              <a:avLst/>
              <a:gdLst/>
              <a:ahLst/>
              <a:cxnLst/>
              <a:rect r="r" b="b" t="t" l="l"/>
              <a:pathLst>
                <a:path h="914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36576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환경부 가이드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법령 기반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3003233" y="7666672"/>
            <a:ext cx="6200775" cy="1400175"/>
            <a:chOff x="0" y="0"/>
            <a:chExt cx="8267700" cy="18669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67700" cy="1866900"/>
            </a:xfrm>
            <a:custGeom>
              <a:avLst/>
              <a:gdLst/>
              <a:ahLst/>
              <a:cxnLst/>
              <a:rect r="r" b="b" t="t" l="l"/>
              <a:pathLst>
                <a:path h="1866900" w="8267700">
                  <a:moveTo>
                    <a:pt x="0" y="0"/>
                  </a:moveTo>
                  <a:lnTo>
                    <a:pt x="8267700" y="0"/>
                  </a:lnTo>
                  <a:lnTo>
                    <a:pt x="8267700" y="1866900"/>
                  </a:lnTo>
                  <a:lnTo>
                    <a:pt x="0" y="1866900"/>
                  </a:lnTo>
                  <a:close/>
                </a:path>
              </a:pathLst>
            </a:custGeom>
            <a:solidFill>
              <a:srgbClr val="E8F5EE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3017520" y="7749540"/>
            <a:ext cx="6172200" cy="1303020"/>
            <a:chOff x="0" y="0"/>
            <a:chExt cx="8229600" cy="1737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2296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822960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지금 바로 시작하세요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[시작하기]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060555" y="2185035"/>
            <a:ext cx="5505450" cy="3448050"/>
            <a:chOff x="0" y="0"/>
            <a:chExt cx="7340600" cy="4597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40600" cy="4597400"/>
            </a:xfrm>
            <a:custGeom>
              <a:avLst/>
              <a:gdLst/>
              <a:ahLst/>
              <a:cxnLst/>
              <a:rect r="r" b="b" t="t" l="l"/>
              <a:pathLst>
                <a:path h="4597400" w="734060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7156704" y="0"/>
                  </a:lnTo>
                  <a:cubicBezTo>
                    <a:pt x="7258304" y="0"/>
                    <a:pt x="7340600" y="82296"/>
                    <a:pt x="7340600" y="183896"/>
                  </a:cubicBezTo>
                  <a:lnTo>
                    <a:pt x="7340600" y="4413504"/>
                  </a:lnTo>
                  <a:cubicBezTo>
                    <a:pt x="7340600" y="4515104"/>
                    <a:pt x="7258304" y="4597400"/>
                    <a:pt x="7156704" y="4597400"/>
                  </a:cubicBezTo>
                  <a:lnTo>
                    <a:pt x="183896" y="4597400"/>
                  </a:lnTo>
                  <a:cubicBezTo>
                    <a:pt x="82296" y="4597400"/>
                    <a:pt x="0" y="4515104"/>
                    <a:pt x="0" y="4413504"/>
                  </a:cubicBez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2070080" y="2331720"/>
            <a:ext cx="5486400" cy="548640"/>
            <a:chOff x="0" y="0"/>
            <a:chExt cx="731520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인터랙션 정의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44400" y="3154680"/>
            <a:ext cx="4800600" cy="411480"/>
            <a:chOff x="0" y="0"/>
            <a:chExt cx="64008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[시작하기]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44400" y="3566160"/>
            <a:ext cx="4800600" cy="685800"/>
            <a:chOff x="0" y="0"/>
            <a:chExt cx="640080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400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4008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로그인 여부 확인 후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EC-02 또는 EC-04로 이동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344400" y="4389120"/>
            <a:ext cx="4800600" cy="411480"/>
            <a:chOff x="0" y="0"/>
            <a:chExt cx="64008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[← 홈으로]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344400" y="4800600"/>
            <a:ext cx="4800600" cy="411480"/>
            <a:chOff x="0" y="0"/>
            <a:chExt cx="64008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EC-01 랜딩 페이지로 이동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34440" y="2400300"/>
            <a:ext cx="9738360" cy="548640"/>
            <a:chOff x="0" y="0"/>
            <a:chExt cx="1298448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98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12984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🌿 Ecobot                                                                                                                                            [← 홈으로]  [챗봇 상담]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48640" cy="10287000"/>
            <a:chOff x="0" y="0"/>
            <a:chExt cx="731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10972800" cy="822960"/>
            <a:chOff x="0" y="0"/>
            <a:chExt cx="146304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EC-07  관리자 대시보드 — 질문 통계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23444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관리자 전용 — 질문 현황 모니터링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185035"/>
            <a:ext cx="10306050" cy="7562850"/>
            <a:chOff x="0" y="0"/>
            <a:chExt cx="13741400" cy="10083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10083800"/>
                  </a:lnTo>
                  <a:lnTo>
                    <a:pt x="0" y="100838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5832" y="2180272"/>
            <a:ext cx="10315575" cy="714375"/>
            <a:chOff x="0" y="0"/>
            <a:chExt cx="13754100" cy="952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54100" cy="952500"/>
            </a:xfrm>
            <a:custGeom>
              <a:avLst/>
              <a:gdLst/>
              <a:ahLst/>
              <a:cxnLst/>
              <a:rect r="r" b="b" t="t" l="l"/>
              <a:pathLst>
                <a:path h="952500" w="13754100">
                  <a:moveTo>
                    <a:pt x="0" y="0"/>
                  </a:moveTo>
                  <a:lnTo>
                    <a:pt x="13754100" y="0"/>
                  </a:lnTo>
                  <a:lnTo>
                    <a:pt x="137541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194560"/>
            <a:ext cx="10287000" cy="685800"/>
            <a:chOff x="0" y="0"/>
            <a:chExt cx="13716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1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3716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[←] 🌿 Ecobot 관리자                                                                                                                                          [질문 통계]  [문서 관리]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0152" y="3140392"/>
            <a:ext cx="2360295" cy="1263015"/>
            <a:chOff x="0" y="0"/>
            <a:chExt cx="3147060" cy="16840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47060" cy="1684020"/>
            </a:xfrm>
            <a:custGeom>
              <a:avLst/>
              <a:gdLst/>
              <a:ahLst/>
              <a:cxnLst/>
              <a:rect r="r" b="b" t="t" l="l"/>
              <a:pathLst>
                <a:path h="1684020" w="3147060">
                  <a:moveTo>
                    <a:pt x="0" y="0"/>
                  </a:moveTo>
                  <a:lnTo>
                    <a:pt x="3147060" y="0"/>
                  </a:lnTo>
                  <a:lnTo>
                    <a:pt x="3147060" y="1684020"/>
                  </a:lnTo>
                  <a:lnTo>
                    <a:pt x="0" y="16840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34440" y="3223260"/>
            <a:ext cx="2331720" cy="342900"/>
            <a:chOff x="0" y="0"/>
            <a:chExt cx="3108960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08960" cy="457200"/>
            </a:xfrm>
            <a:custGeom>
              <a:avLst/>
              <a:gdLst/>
              <a:ahLst/>
              <a:cxnLst/>
              <a:rect r="r" b="b" t="t" l="l"/>
              <a:pathLst>
                <a:path h="4572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10896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총 질문 수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34440" y="3566160"/>
            <a:ext cx="2331720" cy="548640"/>
            <a:chOff x="0" y="0"/>
            <a:chExt cx="310896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1,247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757612" y="3140392"/>
            <a:ext cx="2360295" cy="1263015"/>
            <a:chOff x="0" y="0"/>
            <a:chExt cx="314706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47060" cy="1684020"/>
            </a:xfrm>
            <a:custGeom>
              <a:avLst/>
              <a:gdLst/>
              <a:ahLst/>
              <a:cxnLst/>
              <a:rect r="r" b="b" t="t" l="l"/>
              <a:pathLst>
                <a:path h="1684020" w="3147060">
                  <a:moveTo>
                    <a:pt x="0" y="0"/>
                  </a:moveTo>
                  <a:lnTo>
                    <a:pt x="3147060" y="0"/>
                  </a:lnTo>
                  <a:lnTo>
                    <a:pt x="3147060" y="1684020"/>
                  </a:lnTo>
                  <a:lnTo>
                    <a:pt x="0" y="16840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771900" y="3223260"/>
            <a:ext cx="2331720" cy="342900"/>
            <a:chOff x="0" y="0"/>
            <a:chExt cx="3108960" cy="457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08960" cy="457200"/>
            </a:xfrm>
            <a:custGeom>
              <a:avLst/>
              <a:gdLst/>
              <a:ahLst/>
              <a:cxnLst/>
              <a:rect r="r" b="b" t="t" l="l"/>
              <a:pathLst>
                <a:path h="4572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10896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오늘 질문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771900" y="3566160"/>
            <a:ext cx="2331720" cy="548640"/>
            <a:chOff x="0" y="0"/>
            <a:chExt cx="310896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B7D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38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295072" y="3140392"/>
            <a:ext cx="2360295" cy="1263015"/>
            <a:chOff x="0" y="0"/>
            <a:chExt cx="3147060" cy="16840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47060" cy="1684020"/>
            </a:xfrm>
            <a:custGeom>
              <a:avLst/>
              <a:gdLst/>
              <a:ahLst/>
              <a:cxnLst/>
              <a:rect r="r" b="b" t="t" l="l"/>
              <a:pathLst>
                <a:path h="1684020" w="3147060">
                  <a:moveTo>
                    <a:pt x="0" y="0"/>
                  </a:moveTo>
                  <a:lnTo>
                    <a:pt x="3147060" y="0"/>
                  </a:lnTo>
                  <a:lnTo>
                    <a:pt x="3147060" y="1684020"/>
                  </a:lnTo>
                  <a:lnTo>
                    <a:pt x="0" y="16840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309360" y="3223260"/>
            <a:ext cx="2331720" cy="342900"/>
            <a:chOff x="0" y="0"/>
            <a:chExt cx="3108960" cy="45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08960" cy="457200"/>
            </a:xfrm>
            <a:custGeom>
              <a:avLst/>
              <a:gdLst/>
              <a:ahLst/>
              <a:cxnLst/>
              <a:rect r="r" b="b" t="t" l="l"/>
              <a:pathLst>
                <a:path h="4572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310896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활성 사용자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309360" y="3566160"/>
            <a:ext cx="2331720" cy="548640"/>
            <a:chOff x="0" y="0"/>
            <a:chExt cx="310896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D4890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156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832532" y="3140392"/>
            <a:ext cx="2360295" cy="1263015"/>
            <a:chOff x="0" y="0"/>
            <a:chExt cx="3147060" cy="16840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47060" cy="1684020"/>
            </a:xfrm>
            <a:custGeom>
              <a:avLst/>
              <a:gdLst/>
              <a:ahLst/>
              <a:cxnLst/>
              <a:rect r="r" b="b" t="t" l="l"/>
              <a:pathLst>
                <a:path h="1684020" w="3147060">
                  <a:moveTo>
                    <a:pt x="0" y="0"/>
                  </a:moveTo>
                  <a:lnTo>
                    <a:pt x="3147060" y="0"/>
                  </a:lnTo>
                  <a:lnTo>
                    <a:pt x="3147060" y="1684020"/>
                  </a:lnTo>
                  <a:lnTo>
                    <a:pt x="0" y="16840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846820" y="3223260"/>
            <a:ext cx="2331720" cy="342900"/>
            <a:chOff x="0" y="0"/>
            <a:chExt cx="3108960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08960" cy="457200"/>
            </a:xfrm>
            <a:custGeom>
              <a:avLst/>
              <a:gdLst/>
              <a:ahLst/>
              <a:cxnLst/>
              <a:rect r="r" b="b" t="t" l="l"/>
              <a:pathLst>
                <a:path h="45720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98" r="0" b="-8249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310896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답변 성공률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846820" y="3566160"/>
            <a:ext cx="2331720" cy="548640"/>
            <a:chOff x="0" y="0"/>
            <a:chExt cx="31089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10896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94.2%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20152" y="4649153"/>
            <a:ext cx="4829175" cy="2771775"/>
            <a:chOff x="0" y="0"/>
            <a:chExt cx="6438900" cy="3695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38900" cy="3695700"/>
            </a:xfrm>
            <a:custGeom>
              <a:avLst/>
              <a:gdLst/>
              <a:ahLst/>
              <a:cxnLst/>
              <a:rect r="r" b="b" t="t" l="l"/>
              <a:pathLst>
                <a:path h="3695700" w="6438900">
                  <a:moveTo>
                    <a:pt x="0" y="0"/>
                  </a:moveTo>
                  <a:lnTo>
                    <a:pt x="6438900" y="0"/>
                  </a:lnTo>
                  <a:lnTo>
                    <a:pt x="6438900" y="3695700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371600" y="4732020"/>
            <a:ext cx="4526280" cy="411480"/>
            <a:chOff x="0" y="0"/>
            <a:chExt cx="603504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0350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지역별 질문 분포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508760" y="5212080"/>
            <a:ext cx="4114800" cy="301752"/>
            <a:chOff x="0" y="0"/>
            <a:chExt cx="5486400" cy="4023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86400" cy="402336"/>
            </a:xfrm>
            <a:custGeom>
              <a:avLst/>
              <a:gdLst/>
              <a:ahLst/>
              <a:cxnLst/>
              <a:rect r="r" b="b" t="t" l="l"/>
              <a:pathLst>
                <a:path h="40233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48640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서울 ████████ 45%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08760" y="5554980"/>
            <a:ext cx="4114800" cy="301752"/>
            <a:chOff x="0" y="0"/>
            <a:chExt cx="5486400" cy="4023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86400" cy="402336"/>
            </a:xfrm>
            <a:custGeom>
              <a:avLst/>
              <a:gdLst/>
              <a:ahLst/>
              <a:cxnLst/>
              <a:rect r="r" b="b" t="t" l="l"/>
              <a:pathLst>
                <a:path h="40233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548640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천안 ████ 20%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08760" y="5897880"/>
            <a:ext cx="4114800" cy="301752"/>
            <a:chOff x="0" y="0"/>
            <a:chExt cx="5486400" cy="4023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6400" cy="402336"/>
            </a:xfrm>
            <a:custGeom>
              <a:avLst/>
              <a:gdLst/>
              <a:ahLst/>
              <a:cxnLst/>
              <a:rect r="r" b="b" t="t" l="l"/>
              <a:pathLst>
                <a:path h="40233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548640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부산 남구 ███ 15%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508760" y="6240780"/>
            <a:ext cx="4114800" cy="301752"/>
            <a:chOff x="0" y="0"/>
            <a:chExt cx="5486400" cy="4023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486400" cy="402336"/>
            </a:xfrm>
            <a:custGeom>
              <a:avLst/>
              <a:gdLst/>
              <a:ahLst/>
              <a:cxnLst/>
              <a:rect r="r" b="b" t="t" l="l"/>
              <a:pathLst>
                <a:path h="40233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548640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인천 ██ 8%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508760" y="6583680"/>
            <a:ext cx="4114800" cy="301752"/>
            <a:chOff x="0" y="0"/>
            <a:chExt cx="5486400" cy="40233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486400" cy="402336"/>
            </a:xfrm>
            <a:custGeom>
              <a:avLst/>
              <a:gdLst/>
              <a:ahLst/>
              <a:cxnLst/>
              <a:rect r="r" b="b" t="t" l="l"/>
              <a:pathLst>
                <a:path h="40233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48640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세종 █ 6%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508760" y="6926580"/>
            <a:ext cx="4114800" cy="301752"/>
            <a:chOff x="0" y="0"/>
            <a:chExt cx="5486400" cy="4023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486400" cy="402336"/>
            </a:xfrm>
            <a:custGeom>
              <a:avLst/>
              <a:gdLst/>
              <a:ahLst/>
              <a:cxnLst/>
              <a:rect r="r" b="b" t="t" l="l"/>
              <a:pathLst>
                <a:path h="40233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705" r="0" b="-21570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5486400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제주 █ 6%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295072" y="4649153"/>
            <a:ext cx="4692015" cy="2771775"/>
            <a:chOff x="0" y="0"/>
            <a:chExt cx="6256020" cy="36957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256020" cy="3695700"/>
            </a:xfrm>
            <a:custGeom>
              <a:avLst/>
              <a:gdLst/>
              <a:ahLst/>
              <a:cxnLst/>
              <a:rect r="r" b="b" t="t" l="l"/>
              <a:pathLst>
                <a:path h="3695700" w="6256020">
                  <a:moveTo>
                    <a:pt x="0" y="0"/>
                  </a:moveTo>
                  <a:lnTo>
                    <a:pt x="6256020" y="0"/>
                  </a:lnTo>
                  <a:lnTo>
                    <a:pt x="6256020" y="3695700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6446520" y="4732020"/>
            <a:ext cx="4389120" cy="411480"/>
            <a:chOff x="0" y="0"/>
            <a:chExt cx="585216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852160" cy="548640"/>
            </a:xfrm>
            <a:custGeom>
              <a:avLst/>
              <a:gdLst/>
              <a:ahLst/>
              <a:cxnLst/>
              <a:rect r="r" b="b" t="t" l="l"/>
              <a:pathLst>
                <a:path h="54864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58521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인기 질문 TOP 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583680" y="5280660"/>
            <a:ext cx="4114800" cy="342900"/>
            <a:chOff x="0" y="0"/>
            <a:chExt cx="5486400" cy="457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54864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1. 페트병 분리배출 방법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583680" y="5664708"/>
            <a:ext cx="4114800" cy="342900"/>
            <a:chOff x="0" y="0"/>
            <a:chExt cx="5486400" cy="457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54864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2. 음식물쓰레기 기준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6583680" y="6048756"/>
            <a:ext cx="4114800" cy="342900"/>
            <a:chOff x="0" y="0"/>
            <a:chExt cx="5486400" cy="457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54864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3. 배달 용기 분리수거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583680" y="6432804"/>
            <a:ext cx="4114800" cy="342900"/>
            <a:chOff x="0" y="0"/>
            <a:chExt cx="5486400" cy="4572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54864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4. 형광등 배출 방법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583680" y="6816852"/>
            <a:ext cx="4114800" cy="342900"/>
            <a:chOff x="0" y="0"/>
            <a:chExt cx="5486400" cy="457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86400" cy="457200"/>
            </a:xfrm>
            <a:custGeom>
              <a:avLst/>
              <a:gdLst/>
              <a:ahLst/>
              <a:cxnLst/>
              <a:rect r="r" b="b" t="t" l="l"/>
              <a:pathLst>
                <a:path h="4572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5486400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5. 대형폐기물 버리기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20152" y="7666672"/>
            <a:ext cx="9766935" cy="1811655"/>
            <a:chOff x="0" y="0"/>
            <a:chExt cx="13022580" cy="24155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3022580" cy="2415540"/>
            </a:xfrm>
            <a:custGeom>
              <a:avLst/>
              <a:gdLst/>
              <a:ahLst/>
              <a:cxnLst/>
              <a:rect r="r" b="b" t="t" l="l"/>
              <a:pathLst>
                <a:path h="2415540" w="13022580">
                  <a:moveTo>
                    <a:pt x="0" y="0"/>
                  </a:moveTo>
                  <a:lnTo>
                    <a:pt x="13022580" y="0"/>
                  </a:lnTo>
                  <a:lnTo>
                    <a:pt x="13022580" y="2415540"/>
                  </a:lnTo>
                  <a:lnTo>
                    <a:pt x="0" y="24155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371600" y="7749540"/>
            <a:ext cx="4114800" cy="411480"/>
            <a:chOff x="0" y="0"/>
            <a:chExt cx="5486400" cy="5486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5486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최근 7일 질문 추이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2057400" y="8412480"/>
            <a:ext cx="685800" cy="640080"/>
            <a:chOff x="0" y="0"/>
            <a:chExt cx="914400" cy="8534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14400" cy="853440"/>
            </a:xfrm>
            <a:custGeom>
              <a:avLst/>
              <a:gdLst/>
              <a:ahLst/>
              <a:cxnLst/>
              <a:rect r="r" b="b" t="t" l="l"/>
              <a:pathLst>
                <a:path h="8534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2057400" y="9121140"/>
            <a:ext cx="685800" cy="274320"/>
            <a:chOff x="0" y="0"/>
            <a:chExt cx="914400" cy="36576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144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9525"/>
              <a:ext cx="9144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월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3291840" y="8252460"/>
            <a:ext cx="685800" cy="800100"/>
            <a:chOff x="0" y="0"/>
            <a:chExt cx="914400" cy="10668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3291840" y="9121140"/>
            <a:ext cx="685800" cy="274320"/>
            <a:chOff x="0" y="0"/>
            <a:chExt cx="914400" cy="36576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144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9144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화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526280" y="8549640"/>
            <a:ext cx="685800" cy="502920"/>
            <a:chOff x="0" y="0"/>
            <a:chExt cx="914400" cy="6705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14400" cy="670560"/>
            </a:xfrm>
            <a:custGeom>
              <a:avLst/>
              <a:gdLst/>
              <a:ahLst/>
              <a:cxnLst/>
              <a:rect r="r" b="b" t="t" l="l"/>
              <a:pathLst>
                <a:path h="6705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70560"/>
                  </a:lnTo>
                  <a:lnTo>
                    <a:pt x="0" y="67056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4526280" y="9121140"/>
            <a:ext cx="685800" cy="274320"/>
            <a:chOff x="0" y="0"/>
            <a:chExt cx="914400" cy="3657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144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9144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수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5760720" y="8138160"/>
            <a:ext cx="685800" cy="914400"/>
            <a:chOff x="0" y="0"/>
            <a:chExt cx="914400" cy="12192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14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5760720" y="9121140"/>
            <a:ext cx="685800" cy="274320"/>
            <a:chOff x="0" y="0"/>
            <a:chExt cx="914400" cy="36576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144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9144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목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6995160" y="8183880"/>
            <a:ext cx="685800" cy="868680"/>
            <a:chOff x="0" y="0"/>
            <a:chExt cx="914400" cy="11582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1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6995160" y="9121140"/>
            <a:ext cx="685800" cy="274320"/>
            <a:chOff x="0" y="0"/>
            <a:chExt cx="914400" cy="36576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144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9144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금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8229600" y="8092440"/>
            <a:ext cx="685800" cy="960120"/>
            <a:chOff x="0" y="0"/>
            <a:chExt cx="914400" cy="128016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14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28016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8229600" y="9121140"/>
            <a:ext cx="685800" cy="274320"/>
            <a:chOff x="0" y="0"/>
            <a:chExt cx="914400" cy="36576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144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9144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토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464040" y="8183880"/>
            <a:ext cx="685800" cy="868680"/>
            <a:chOff x="0" y="0"/>
            <a:chExt cx="914400" cy="11582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1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158240"/>
                  </a:lnTo>
                  <a:lnTo>
                    <a:pt x="0" y="115824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9464040" y="9121140"/>
            <a:ext cx="685800" cy="274320"/>
            <a:chOff x="0" y="0"/>
            <a:chExt cx="914400" cy="36576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914400" cy="365760"/>
            </a:xfrm>
            <a:custGeom>
              <a:avLst/>
              <a:gdLst/>
              <a:ahLst/>
              <a:cxnLst/>
              <a:rect r="r" b="b" t="t" l="l"/>
              <a:pathLst>
                <a:path h="3657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9525"/>
              <a:ext cx="9144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60"/>
                </a:lnSpc>
              </a:pPr>
              <a:r>
                <a:rPr lang="en-US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일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2060555" y="2185035"/>
            <a:ext cx="5505450" cy="5505450"/>
            <a:chOff x="0" y="0"/>
            <a:chExt cx="7340600" cy="73406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7340600" cy="7340600"/>
            </a:xfrm>
            <a:custGeom>
              <a:avLst/>
              <a:gdLst/>
              <a:ahLst/>
              <a:cxnLst/>
              <a:rect r="r" b="b" t="t" l="l"/>
              <a:pathLst>
                <a:path h="7340600" w="734060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157085" y="0"/>
                  </a:lnTo>
                  <a:cubicBezTo>
                    <a:pt x="7258431" y="0"/>
                    <a:pt x="7340600" y="82169"/>
                    <a:pt x="7340600" y="183515"/>
                  </a:cubicBezTo>
                  <a:lnTo>
                    <a:pt x="7340600" y="7157085"/>
                  </a:lnTo>
                  <a:cubicBezTo>
                    <a:pt x="7340600" y="7258431"/>
                    <a:pt x="7258431" y="7340600"/>
                    <a:pt x="7157085" y="7340600"/>
                  </a:cubicBezTo>
                  <a:lnTo>
                    <a:pt x="183515" y="7340600"/>
                  </a:lnTo>
                  <a:cubicBezTo>
                    <a:pt x="82169" y="7340600"/>
                    <a:pt x="0" y="7258431"/>
                    <a:pt x="0" y="7157085"/>
                  </a:cubicBez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12070080" y="2331720"/>
            <a:ext cx="5486400" cy="548640"/>
            <a:chOff x="0" y="0"/>
            <a:chExt cx="7315200" cy="73152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인터랙션 정의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2344400" y="3154680"/>
            <a:ext cx="4800600" cy="411480"/>
            <a:chOff x="0" y="0"/>
            <a:chExt cx="6400800" cy="5486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데이터 로드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2344400" y="3566160"/>
            <a:ext cx="4800600" cy="822960"/>
            <a:chOff x="0" y="0"/>
            <a:chExt cx="6400800" cy="109728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400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19050"/>
              <a:ext cx="6400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GET /api/admin/stats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페이지 진입 시 자동 호출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344400" y="4663440"/>
            <a:ext cx="4800600" cy="411480"/>
            <a:chOff x="0" y="0"/>
            <a:chExt cx="6400800" cy="5486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[문서 관리] 탭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344400" y="5074920"/>
            <a:ext cx="4800600" cy="822960"/>
            <a:chOff x="0" y="0"/>
            <a:chExt cx="6400800" cy="109728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400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19050"/>
              <a:ext cx="6400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EC-08 문서 관리 화면으로 전환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344400" y="6172200"/>
            <a:ext cx="4800600" cy="411480"/>
            <a:chOff x="0" y="0"/>
            <a:chExt cx="6400800" cy="5486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[←] 뒤로가기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12344400" y="6583680"/>
            <a:ext cx="4800600" cy="822960"/>
            <a:chOff x="0" y="0"/>
            <a:chExt cx="6400800" cy="109728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400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19050"/>
              <a:ext cx="6400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EC-04 채팅 화면으로 이동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48640" cy="10287000"/>
            <a:chOff x="0" y="0"/>
            <a:chExt cx="73152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8B4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411480"/>
            <a:ext cx="10972800" cy="822960"/>
            <a:chOff x="0" y="0"/>
            <a:chExt cx="146304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EC-08  관리자 대시보드 — 문서 관리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1234440"/>
            <a:ext cx="13716000" cy="548640"/>
            <a:chOff x="0" y="0"/>
            <a:chExt cx="182880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RAG 문서 목록 조회 및 업로드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0595" y="2185035"/>
            <a:ext cx="10306050" cy="7562850"/>
            <a:chOff x="0" y="0"/>
            <a:chExt cx="13741400" cy="10083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14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3741400">
                  <a:moveTo>
                    <a:pt x="0" y="0"/>
                  </a:moveTo>
                  <a:lnTo>
                    <a:pt x="13741400" y="0"/>
                  </a:lnTo>
                  <a:lnTo>
                    <a:pt x="13741400" y="10083800"/>
                  </a:lnTo>
                  <a:lnTo>
                    <a:pt x="0" y="100838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5832" y="2180272"/>
            <a:ext cx="10315575" cy="714375"/>
            <a:chOff x="0" y="0"/>
            <a:chExt cx="13754100" cy="952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54100" cy="952500"/>
            </a:xfrm>
            <a:custGeom>
              <a:avLst/>
              <a:gdLst/>
              <a:ahLst/>
              <a:cxnLst/>
              <a:rect r="r" b="b" t="t" l="l"/>
              <a:pathLst>
                <a:path h="952500" w="13754100">
                  <a:moveTo>
                    <a:pt x="0" y="0"/>
                  </a:moveTo>
                  <a:lnTo>
                    <a:pt x="13754100" y="0"/>
                  </a:lnTo>
                  <a:lnTo>
                    <a:pt x="137541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20152" y="3071812"/>
            <a:ext cx="9766935" cy="577215"/>
            <a:chOff x="0" y="0"/>
            <a:chExt cx="13022580" cy="7696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022580" cy="769620"/>
            </a:xfrm>
            <a:custGeom>
              <a:avLst/>
              <a:gdLst/>
              <a:ahLst/>
              <a:cxnLst/>
              <a:rect r="r" b="b" t="t" l="l"/>
              <a:pathLst>
                <a:path h="769620" w="13022580">
                  <a:moveTo>
                    <a:pt x="0" y="0"/>
                  </a:moveTo>
                  <a:lnTo>
                    <a:pt x="13022580" y="0"/>
                  </a:lnTo>
                  <a:lnTo>
                    <a:pt x="13022580" y="769620"/>
                  </a:lnTo>
                  <a:lnTo>
                    <a:pt x="0" y="76962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34440" y="3086100"/>
            <a:ext cx="9738360" cy="548640"/>
            <a:chOff x="0" y="0"/>
            <a:chExt cx="1298448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8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2984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● 인덱스 정상 (벡터 2,341개)                                                                                                                                                          [🔄 인덱스 재빌드]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0152" y="3826192"/>
            <a:ext cx="9766935" cy="3457575"/>
            <a:chOff x="0" y="0"/>
            <a:chExt cx="13022580" cy="4610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22580" cy="4610100"/>
            </a:xfrm>
            <a:custGeom>
              <a:avLst/>
              <a:gdLst/>
              <a:ahLst/>
              <a:cxnLst/>
              <a:rect r="r" b="b" t="t" l="l"/>
              <a:pathLst>
                <a:path h="4610100" w="13022580">
                  <a:moveTo>
                    <a:pt x="0" y="0"/>
                  </a:moveTo>
                  <a:lnTo>
                    <a:pt x="13022580" y="0"/>
                  </a:lnTo>
                  <a:lnTo>
                    <a:pt x="13022580" y="4610100"/>
                  </a:lnTo>
                  <a:lnTo>
                    <a:pt x="0" y="461010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3909060"/>
            <a:ext cx="9464040" cy="411480"/>
            <a:chOff x="0" y="0"/>
            <a:chExt cx="1261872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18720" cy="548640"/>
            </a:xfrm>
            <a:custGeom>
              <a:avLst/>
              <a:gdLst/>
              <a:ahLst/>
              <a:cxnLst/>
              <a:rect r="r" b="b" t="t" l="l"/>
              <a:pathLst>
                <a:path h="54864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26187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문서명                              유형          지역          청크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" y="4320540"/>
            <a:ext cx="9464040" cy="13716"/>
            <a:chOff x="0" y="0"/>
            <a:chExt cx="12618720" cy="182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18720" cy="18288"/>
            </a:xfrm>
            <a:custGeom>
              <a:avLst/>
              <a:gdLst/>
              <a:ahLst/>
              <a:cxnLst/>
              <a:rect r="r" b="b" t="t" l="l"/>
              <a:pathLst>
                <a:path h="18288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0D0D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1600" y="4389120"/>
            <a:ext cx="9464040" cy="384048"/>
            <a:chOff x="0" y="0"/>
            <a:chExt cx="1261872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18720" cy="512064"/>
            </a:xfrm>
            <a:custGeom>
              <a:avLst/>
              <a:gdLst/>
              <a:ahLst/>
              <a:cxnLst/>
              <a:rect r="r" b="b" t="t" l="l"/>
              <a:pathLst>
                <a:path h="512064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2618720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서울시 분리배출 요령          guide       seoul          24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71600" y="4800600"/>
            <a:ext cx="9464040" cy="384048"/>
            <a:chOff x="0" y="0"/>
            <a:chExt cx="12618720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18720" cy="512064"/>
            </a:xfrm>
            <a:custGeom>
              <a:avLst/>
              <a:gdLst/>
              <a:ahLst/>
              <a:cxnLst/>
              <a:rect r="r" b="b" t="t" l="l"/>
              <a:pathLst>
                <a:path h="512064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2618720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부산 남구 분리배출 요령       guide       busan          18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1600" y="5212080"/>
            <a:ext cx="9464040" cy="384048"/>
            <a:chOff x="0" y="0"/>
            <a:chExt cx="12618720" cy="512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618720" cy="512064"/>
            </a:xfrm>
            <a:custGeom>
              <a:avLst/>
              <a:gdLst/>
              <a:ahLst/>
              <a:cxnLst/>
              <a:rect r="r" b="b" t="t" l="l"/>
              <a:pathLst>
                <a:path h="512064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2618720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천안시 분리배출 요령          guide       cheonan       15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71600" y="5623560"/>
            <a:ext cx="9464040" cy="384048"/>
            <a:chOff x="0" y="0"/>
            <a:chExt cx="12618720" cy="5120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618720" cy="512064"/>
            </a:xfrm>
            <a:custGeom>
              <a:avLst/>
              <a:gdLst/>
              <a:ahLst/>
              <a:cxnLst/>
              <a:rect r="r" b="b" t="t" l="l"/>
              <a:pathLst>
                <a:path h="512064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2618720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공통 음식물쓰레기 구분       guide       common       12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1600" y="6035040"/>
            <a:ext cx="9464040" cy="384048"/>
            <a:chOff x="0" y="0"/>
            <a:chExt cx="12618720" cy="5120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618720" cy="512064"/>
            </a:xfrm>
            <a:custGeom>
              <a:avLst/>
              <a:gdLst/>
              <a:ahLst/>
              <a:cxnLst/>
              <a:rect r="r" b="b" t="t" l="l"/>
              <a:pathLst>
                <a:path h="512064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2618720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폐기물관리법                    law          common       32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1600" y="6446520"/>
            <a:ext cx="9464040" cy="384048"/>
            <a:chOff x="0" y="0"/>
            <a:chExt cx="12618720" cy="512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618720" cy="512064"/>
            </a:xfrm>
            <a:custGeom>
              <a:avLst/>
              <a:gdLst/>
              <a:ahLst/>
              <a:cxnLst/>
              <a:rect r="r" b="b" t="t" l="l"/>
              <a:pathLst>
                <a:path h="512064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2618720" cy="531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자원재활용법                    law          common       28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20152" y="7529512"/>
            <a:ext cx="9766935" cy="1811655"/>
            <a:chOff x="0" y="0"/>
            <a:chExt cx="13022580" cy="24155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022580" cy="2415540"/>
            </a:xfrm>
            <a:custGeom>
              <a:avLst/>
              <a:gdLst/>
              <a:ahLst/>
              <a:cxnLst/>
              <a:rect r="r" b="b" t="t" l="l"/>
              <a:pathLst>
                <a:path h="2415540" w="13022580">
                  <a:moveTo>
                    <a:pt x="0" y="0"/>
                  </a:moveTo>
                  <a:lnTo>
                    <a:pt x="13022580" y="0"/>
                  </a:lnTo>
                  <a:lnTo>
                    <a:pt x="13022580" y="2415540"/>
                  </a:lnTo>
                  <a:lnTo>
                    <a:pt x="0" y="24155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34440" y="7680960"/>
            <a:ext cx="9738360" cy="548640"/>
            <a:chOff x="0" y="0"/>
            <a:chExt cx="1298448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98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859" r="0" b="-29585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12984480" cy="798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📤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34440" y="8229600"/>
            <a:ext cx="9738360" cy="685800"/>
            <a:chOff x="0" y="0"/>
            <a:chExt cx="1298448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984480" cy="914400"/>
            </a:xfrm>
            <a:custGeom>
              <a:avLst/>
              <a:gdLst/>
              <a:ahLst/>
              <a:cxnLst/>
              <a:rect r="r" b="b" t="t" l="l"/>
              <a:pathLst>
                <a:path h="91440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687" r="0" b="-2266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298448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새 문서 업로드 (.txt, .md, .pdf)</a:t>
              </a:r>
            </a:p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클릭하거나 파일을 드래그하세요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060555" y="2185035"/>
            <a:ext cx="5505450" cy="6877050"/>
            <a:chOff x="0" y="0"/>
            <a:chExt cx="7340600" cy="9169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40600" cy="9169400"/>
            </a:xfrm>
            <a:custGeom>
              <a:avLst/>
              <a:gdLst/>
              <a:ahLst/>
              <a:cxnLst/>
              <a:rect r="r" b="b" t="t" l="l"/>
              <a:pathLst>
                <a:path h="9169400" w="734060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7157085" y="0"/>
                  </a:lnTo>
                  <a:cubicBezTo>
                    <a:pt x="7258431" y="0"/>
                    <a:pt x="7340600" y="82169"/>
                    <a:pt x="7340600" y="183515"/>
                  </a:cubicBezTo>
                  <a:lnTo>
                    <a:pt x="7340600" y="8985885"/>
                  </a:lnTo>
                  <a:cubicBezTo>
                    <a:pt x="7340600" y="9087231"/>
                    <a:pt x="7258431" y="9169400"/>
                    <a:pt x="7157085" y="9169400"/>
                  </a:cubicBezTo>
                  <a:lnTo>
                    <a:pt x="183515" y="9169400"/>
                  </a:lnTo>
                  <a:cubicBezTo>
                    <a:pt x="82169" y="9169400"/>
                    <a:pt x="0" y="9087231"/>
                    <a:pt x="0" y="8985885"/>
                  </a:cubicBezTo>
                  <a:close/>
                </a:path>
              </a:pathLst>
            </a:custGeom>
            <a:solidFill>
              <a:srgbClr val="FAFAFA"/>
            </a:solidFill>
            <a:ln w="19050" cap="sq">
              <a:solidFill>
                <a:srgbClr val="D0D0D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070080" y="2331720"/>
            <a:ext cx="5486400" cy="548640"/>
            <a:chOff x="0" y="0"/>
            <a:chExt cx="731520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B3A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인터랙션 정의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344400" y="3017520"/>
            <a:ext cx="4800600" cy="411480"/>
            <a:chOff x="0" y="0"/>
            <a:chExt cx="64008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문서 목록 로드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344400" y="3429000"/>
            <a:ext cx="4800600" cy="891540"/>
            <a:chOff x="0" y="0"/>
            <a:chExt cx="6400800" cy="1188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GET /api/admin/documents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청크 수, 유형, 지역 표시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344400" y="4594860"/>
            <a:ext cx="4800600" cy="411480"/>
            <a:chOff x="0" y="0"/>
            <a:chExt cx="6400800" cy="5486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파일 업로드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344400" y="5006340"/>
            <a:ext cx="4800600" cy="891540"/>
            <a:chOff x="0" y="0"/>
            <a:chExt cx="6400800" cy="1188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POST /api/admin/documents/upload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.txt, .md, .pdf 지원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업로드 후 자동 청킹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344400" y="6172200"/>
            <a:ext cx="4800600" cy="411480"/>
            <a:chOff x="0" y="0"/>
            <a:chExt cx="6400800" cy="548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[인덱스 재빌드]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344400" y="6583680"/>
            <a:ext cx="4800600" cy="891540"/>
            <a:chOff x="0" y="0"/>
            <a:chExt cx="6400800" cy="11887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POST /api/admin/rebuild-index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FAISS 벡터 인덱스 재생성</a:t>
              </a:r>
            </a:p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문서 추가/삭제 후 필수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344400" y="7749540"/>
            <a:ext cx="4800600" cy="411480"/>
            <a:chOff x="0" y="0"/>
            <a:chExt cx="6400800" cy="5486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D8B4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[질문 통계] 탭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344400" y="8161020"/>
            <a:ext cx="4800600" cy="891540"/>
            <a:chOff x="0" y="0"/>
            <a:chExt cx="6400800" cy="11887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400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919" r="0" b="-5491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6400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EC-07 통계 화면으로 전환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60120" y="2194560"/>
            <a:ext cx="10287000" cy="685800"/>
            <a:chOff x="0" y="0"/>
            <a:chExt cx="13716000" cy="914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716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37160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 [←] 🌿 Ecobot 관리자                                                                                                                                          [질문 통계]  [문서 관리]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DAHRSDQGolA</dc:identifier>
  <dcterms:modified xsi:type="dcterms:W3CDTF">2011-08-01T06:04:30Z</dcterms:modified>
  <cp:revision>1</cp:revision>
  <dc:title>EcoBot_와이어프레임_스토리보드.pptx</dc:title>
</cp:coreProperties>
</file>